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249A3C5-A416-44BD-9153-79D02DB2167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E9C1C4-90C6-4399-8C27-50E04F0C80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D84C66-1EF6-4194-92AB-54A53119E8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79E3F7-F72D-4C87-9B44-B9322F8D0C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83BBE8-7169-49D3-AB55-6754CBB05E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52C1B73-75C6-4775-AE1F-66F9834B5B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9140BB-2799-4941-9B36-A6577BE324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DFAD235-6ECE-4003-9222-CBF08F5B13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6432AF-3D42-48CE-91C7-C127224B32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C8441CA-F211-4077-9459-BB337962F8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9FFF86C-0F38-4395-AB17-16A6C41810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846C2B-73C7-4AEF-B390-8C92EBAA6E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EF4354D-932C-42A5-AC91-BBF5CB388B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E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6583680" y="1463040"/>
            <a:ext cx="6857280" cy="59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0" b="1" u="none" strike="noStrike">
                <a:solidFill>
                  <a:srgbClr val="2A2D31"/>
                </a:solidFill>
                <a:effectLst/>
                <a:uFillTx/>
                <a:latin typeface="Cambria"/>
                <a:ea typeface="Cambria"/>
              </a:rPr>
              <a:t>DB</a:t>
            </a:r>
            <a:endParaRPr lang="en-US" sz="3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822960" y="685800"/>
            <a:ext cx="7314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21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DBMS PROJECT REPORT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840960" y="1051560"/>
            <a:ext cx="502920" cy="360"/>
          </a:xfrm>
          <a:prstGeom prst="line">
            <a:avLst/>
          </a:prstGeom>
          <a:ln w="1905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22960" y="1600200"/>
            <a:ext cx="987480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Sof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twa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 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Lic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ens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 &amp;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Sub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scri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pti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on 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Ma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nag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em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ent 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Sys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te</a:t>
            </a: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22960" y="3611880"/>
            <a:ext cx="8686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EB6BD"/>
                </a:solidFill>
                <a:effectLst/>
                <a:uFillTx/>
                <a:latin typeface="Calibri"/>
                <a:ea typeface="Calibri"/>
              </a:rPr>
              <a:t>Design and Implementation of a Relational Database Management System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22960" y="4160520"/>
            <a:ext cx="8686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1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·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Q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&amp;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G</a:t>
            </a:r>
            <a:r>
              <a:rPr lang="en-US" sz="1300" b="1" i="1" u="none" spc="9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822960" y="5989320"/>
            <a:ext cx="10515600" cy="360"/>
          </a:xfrm>
          <a:prstGeom prst="line">
            <a:avLst/>
          </a:prstGeom>
          <a:ln w="12700">
            <a:solidFill>
              <a:srgbClr val="3A3D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822960" y="6144840"/>
            <a:ext cx="2536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pc="99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PRESENTED BY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Jampana Naga Satya Sai Rishvarma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452040" y="6144840"/>
            <a:ext cx="2536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pc="99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STUDENT ID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25WU0102105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6080760" y="6144840"/>
            <a:ext cx="2536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pc="99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PROGRAM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B.Tech CSE (AI &amp; ML)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8709840" y="6144840"/>
            <a:ext cx="25369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900" b="0" u="none" spc="99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UNIVERSITY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Woxsen University, Hyderabad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548640" y="320040"/>
            <a:ext cx="9600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C1E21"/>
                </a:solidFill>
                <a:effectLst/>
                <a:uFillTx/>
                <a:latin typeface="Cambria"/>
                <a:ea typeface="Cambria"/>
              </a:rPr>
              <a:t>The Problem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566640" y="932400"/>
            <a:ext cx="502920" cy="360"/>
          </a:xfrm>
          <a:prstGeom prst="line">
            <a:avLst/>
          </a:prstGeom>
          <a:ln w="2540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548640" y="1417320"/>
            <a:ext cx="14623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DCD6CC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3"/>
          <p:cNvSpPr/>
          <p:nvPr/>
        </p:nvSpPr>
        <p:spPr>
          <a:xfrm>
            <a:off x="2194560" y="1554480"/>
            <a:ext cx="360" cy="1371600"/>
          </a:xfrm>
          <a:prstGeom prst="line">
            <a:avLst/>
          </a:prstGeom>
          <a:ln w="3175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2423160" y="1554480"/>
            <a:ext cx="87318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Departments purchase and use software independently, with no centralized visibility into what is owned, allocated, or expiring — leading to non-compliant usage, over-allocation beyond purchased quantity, and unplanned renewal costs.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548640" y="3246120"/>
            <a:ext cx="10881360" cy="360"/>
          </a:xfrm>
          <a:prstGeom prst="line">
            <a:avLst/>
          </a:prstGeom>
          <a:ln w="12700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548640" y="3611880"/>
            <a:ext cx="822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548640" y="402336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No usage visibility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548640" y="4434840"/>
            <a:ext cx="338256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Departments cannot tell which licenses are active, idle, or unassigned at any point in time.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9"/>
          <p:cNvSpPr/>
          <p:nvPr/>
        </p:nvSpPr>
        <p:spPr>
          <a:xfrm>
            <a:off x="4297680" y="3611880"/>
            <a:ext cx="822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4297680" y="402336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Manual, fragmented tracking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4297680" y="4434840"/>
            <a:ext cx="338256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Purchases and allocations are tracked informally across spreadsheets and email threads.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8046720" y="3611880"/>
            <a:ext cx="8222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8046720" y="402336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Audit &amp; budget risk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8046720" y="4434840"/>
            <a:ext cx="338256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Expired or over-allocated licenses surface only during audits, after cost or compliance damage is done.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48640" y="320040"/>
            <a:ext cx="9600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C1E21"/>
                </a:solidFill>
                <a:effectLst/>
                <a:uFillTx/>
                <a:latin typeface="Cambria"/>
                <a:ea typeface="Cambria"/>
              </a:rPr>
              <a:t>Project Scope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566640" y="932400"/>
            <a:ext cx="502920" cy="360"/>
          </a:xfrm>
          <a:prstGeom prst="line">
            <a:avLst/>
          </a:prstGeom>
          <a:ln w="2540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548640" y="1417320"/>
            <a:ext cx="14623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DCD6CC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2194560" y="1554480"/>
            <a:ext cx="360" cy="1234440"/>
          </a:xfrm>
          <a:prstGeom prst="line">
            <a:avLst/>
          </a:prstGeom>
          <a:ln w="3175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2423160" y="1554480"/>
            <a:ext cx="8731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The system covers the full lifecycle of a software license — from purchase through allocation, renewal, and eventual retirement — across every department in the organization.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548640" y="3154680"/>
            <a:ext cx="5485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19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ENTITIES IN SCOPE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6"/>
          <p:cNvSpPr/>
          <p:nvPr/>
        </p:nvSpPr>
        <p:spPr>
          <a:xfrm>
            <a:off x="548640" y="3566160"/>
            <a:ext cx="260532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548640" y="356616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1E21"/>
                </a:solidFill>
                <a:effectLst/>
                <a:uFillTx/>
                <a:latin typeface="Consolas"/>
                <a:ea typeface="Consolas"/>
              </a:rPr>
              <a:t>VENDOR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8"/>
          <p:cNvSpPr/>
          <p:nvPr/>
        </p:nvSpPr>
        <p:spPr>
          <a:xfrm>
            <a:off x="3355920" y="3566160"/>
            <a:ext cx="260532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3355920" y="356616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1E21"/>
                </a:solidFill>
                <a:effectLst/>
                <a:uFillTx/>
                <a:latin typeface="Consolas"/>
                <a:ea typeface="Consolas"/>
              </a:rPr>
              <a:t>SOFTWARE PRODUCT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0"/>
          <p:cNvSpPr/>
          <p:nvPr/>
        </p:nvSpPr>
        <p:spPr>
          <a:xfrm>
            <a:off x="6163200" y="3566160"/>
            <a:ext cx="260532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6163200" y="356616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1E21"/>
                </a:solidFill>
                <a:effectLst/>
                <a:uFillTx/>
                <a:latin typeface="Consolas"/>
                <a:ea typeface="Consolas"/>
              </a:rPr>
              <a:t>LICENSE TYPE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2"/>
          <p:cNvSpPr/>
          <p:nvPr/>
        </p:nvSpPr>
        <p:spPr>
          <a:xfrm>
            <a:off x="8970120" y="3566160"/>
            <a:ext cx="260532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8970120" y="356616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1E21"/>
                </a:solidFill>
                <a:effectLst/>
                <a:uFillTx/>
                <a:latin typeface="Consolas"/>
                <a:ea typeface="Consolas"/>
              </a:rPr>
              <a:t>LICENSE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4"/>
          <p:cNvSpPr/>
          <p:nvPr/>
        </p:nvSpPr>
        <p:spPr>
          <a:xfrm>
            <a:off x="548640" y="4270320"/>
            <a:ext cx="260532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548640" y="427032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1E21"/>
                </a:solidFill>
                <a:effectLst/>
                <a:uFillTx/>
                <a:latin typeface="Consolas"/>
                <a:ea typeface="Consolas"/>
              </a:rPr>
              <a:t>SUBSCRIPTION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6"/>
          <p:cNvSpPr/>
          <p:nvPr/>
        </p:nvSpPr>
        <p:spPr>
          <a:xfrm>
            <a:off x="3355920" y="4270320"/>
            <a:ext cx="260532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3355920" y="427032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1E21"/>
                </a:solidFill>
                <a:effectLst/>
                <a:uFillTx/>
                <a:latin typeface="Consolas"/>
                <a:ea typeface="Consolas"/>
              </a:rPr>
              <a:t>DEPARTMENT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8"/>
          <p:cNvSpPr/>
          <p:nvPr/>
        </p:nvSpPr>
        <p:spPr>
          <a:xfrm>
            <a:off x="6163200" y="4270320"/>
            <a:ext cx="260532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9"/>
          <p:cNvSpPr/>
          <p:nvPr/>
        </p:nvSpPr>
        <p:spPr>
          <a:xfrm>
            <a:off x="6163200" y="427032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1E21"/>
                </a:solidFill>
                <a:effectLst/>
                <a:uFillTx/>
                <a:latin typeface="Consolas"/>
                <a:ea typeface="Consolas"/>
              </a:rPr>
              <a:t>USER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0"/>
          <p:cNvSpPr/>
          <p:nvPr/>
        </p:nvSpPr>
        <p:spPr>
          <a:xfrm>
            <a:off x="8970120" y="4270320"/>
            <a:ext cx="260532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8970120" y="427032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1E21"/>
                </a:solidFill>
                <a:effectLst/>
                <a:uFillTx/>
                <a:latin typeface="Consolas"/>
                <a:ea typeface="Consolas"/>
              </a:rPr>
              <a:t>DEVICE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2"/>
          <p:cNvSpPr/>
          <p:nvPr/>
        </p:nvSpPr>
        <p:spPr>
          <a:xfrm>
            <a:off x="548640" y="4974480"/>
            <a:ext cx="260532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3"/>
          <p:cNvSpPr/>
          <p:nvPr/>
        </p:nvSpPr>
        <p:spPr>
          <a:xfrm>
            <a:off x="548640" y="497448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1E21"/>
                </a:solidFill>
                <a:effectLst/>
                <a:uFillTx/>
                <a:latin typeface="Consolas"/>
                <a:ea typeface="Consolas"/>
              </a:rPr>
              <a:t>ALLOCATION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4"/>
          <p:cNvSpPr/>
          <p:nvPr/>
        </p:nvSpPr>
        <p:spPr>
          <a:xfrm>
            <a:off x="3355920" y="4974480"/>
            <a:ext cx="260532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5"/>
          <p:cNvSpPr/>
          <p:nvPr/>
        </p:nvSpPr>
        <p:spPr>
          <a:xfrm>
            <a:off x="3355920" y="497448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1E21"/>
                </a:solidFill>
                <a:effectLst/>
                <a:uFillTx/>
                <a:latin typeface="Consolas"/>
                <a:ea typeface="Consolas"/>
              </a:rPr>
              <a:t>PURCHASE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6"/>
          <p:cNvSpPr/>
          <p:nvPr/>
        </p:nvSpPr>
        <p:spPr>
          <a:xfrm>
            <a:off x="6163200" y="4974480"/>
            <a:ext cx="260532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7"/>
          <p:cNvSpPr/>
          <p:nvPr/>
        </p:nvSpPr>
        <p:spPr>
          <a:xfrm>
            <a:off x="6163200" y="497448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1E21"/>
                </a:solidFill>
                <a:effectLst/>
                <a:uFillTx/>
                <a:latin typeface="Consolas"/>
                <a:ea typeface="Consolas"/>
              </a:rPr>
              <a:t>RENEWAL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8"/>
          <p:cNvSpPr/>
          <p:nvPr/>
        </p:nvSpPr>
        <p:spPr>
          <a:xfrm>
            <a:off x="8970120" y="4974480"/>
            <a:ext cx="2605320" cy="502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9"/>
          <p:cNvSpPr/>
          <p:nvPr/>
        </p:nvSpPr>
        <p:spPr>
          <a:xfrm>
            <a:off x="8970120" y="497448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C1E21"/>
                </a:solidFill>
                <a:effectLst/>
                <a:uFillTx/>
                <a:latin typeface="Consolas"/>
                <a:ea typeface="Consolas"/>
              </a:rPr>
              <a:t>COMPLIANCE CHECK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548640" y="320040"/>
            <a:ext cx="9600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C1E21"/>
                </a:solidFill>
                <a:effectLst/>
                <a:uFillTx/>
                <a:latin typeface="Cambria"/>
                <a:ea typeface="Cambria"/>
              </a:rPr>
              <a:t>Key Objectives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"/>
          <p:cNvSpPr/>
          <p:nvPr/>
        </p:nvSpPr>
        <p:spPr>
          <a:xfrm>
            <a:off x="566640" y="932400"/>
            <a:ext cx="502920" cy="360"/>
          </a:xfrm>
          <a:prstGeom prst="line">
            <a:avLst/>
          </a:prstGeom>
          <a:ln w="2540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548640" y="1508760"/>
            <a:ext cx="1096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DCD6CC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"/>
          <p:cNvSpPr/>
          <p:nvPr/>
        </p:nvSpPr>
        <p:spPr>
          <a:xfrm>
            <a:off x="548640" y="2194560"/>
            <a:ext cx="360" cy="1051560"/>
          </a:xfrm>
          <a:prstGeom prst="line">
            <a:avLst/>
          </a:prstGeom>
          <a:ln w="2540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777240" y="2194560"/>
            <a:ext cx="5028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Centralize License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777240" y="2606040"/>
            <a:ext cx="5028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Maintain a single source of truth for all licenses &amp; subscriptions across every department.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6172200" y="1508760"/>
            <a:ext cx="1096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DCD6CC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6172200" y="2194560"/>
            <a:ext cx="360" cy="1051560"/>
          </a:xfrm>
          <a:prstGeom prst="line">
            <a:avLst/>
          </a:prstGeom>
          <a:ln w="2540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6400800" y="2194560"/>
            <a:ext cx="5028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Enforce Business Rules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6400800" y="2606040"/>
            <a:ext cx="5028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Guarantee unique license keys, allocation within purchased quantity, and valid allocation periods.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548640" y="3977640"/>
            <a:ext cx="1096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DCD6CC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548640" y="4663440"/>
            <a:ext cx="360" cy="1051560"/>
          </a:xfrm>
          <a:prstGeom prst="line">
            <a:avLst/>
          </a:prstGeom>
          <a:ln w="2540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777240" y="4663440"/>
            <a:ext cx="5028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Monitor Expiry &amp; Compliance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777240" y="5074920"/>
            <a:ext cx="5028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Proactively flag expired, expiring, and non-compliant license allocations.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6172200" y="3977640"/>
            <a:ext cx="1096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DCD6CC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5"/>
          <p:cNvSpPr/>
          <p:nvPr/>
        </p:nvSpPr>
        <p:spPr>
          <a:xfrm>
            <a:off x="6172200" y="4663440"/>
            <a:ext cx="360" cy="1051560"/>
          </a:xfrm>
          <a:prstGeom prst="line">
            <a:avLst/>
          </a:prstGeom>
          <a:ln w="2540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6400800" y="4663440"/>
            <a:ext cx="5028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Enable Cost &amp; Renewal Analysis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7"/>
          <p:cNvSpPr/>
          <p:nvPr/>
        </p:nvSpPr>
        <p:spPr>
          <a:xfrm>
            <a:off x="6400800" y="5074920"/>
            <a:ext cx="50284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Support renewal, reclaim, and vendor cost-tracking decisions with reliable data.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548640" y="320040"/>
            <a:ext cx="9600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C1E21"/>
                </a:solidFill>
                <a:effectLst/>
                <a:uFillTx/>
                <a:latin typeface="Cambria"/>
                <a:ea typeface="Cambria"/>
              </a:rPr>
              <a:t>System Users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"/>
          <p:cNvSpPr/>
          <p:nvPr/>
        </p:nvSpPr>
        <p:spPr>
          <a:xfrm>
            <a:off x="566640" y="932400"/>
            <a:ext cx="502920" cy="360"/>
          </a:xfrm>
          <a:prstGeom prst="line">
            <a:avLst/>
          </a:prstGeom>
          <a:ln w="2540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548640" y="1645920"/>
            <a:ext cx="109080" cy="109080"/>
          </a:xfrm>
          <a:prstGeom prst="rect">
            <a:avLst/>
          </a:prstGeom>
          <a:solidFill>
            <a:srgbClr val="A655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868680" y="152712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IT Administrator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4"/>
          <p:cNvSpPr/>
          <p:nvPr/>
        </p:nvSpPr>
        <p:spPr>
          <a:xfrm>
            <a:off x="4846320" y="1526760"/>
            <a:ext cx="360" cy="640080"/>
          </a:xfrm>
          <a:prstGeom prst="line">
            <a:avLst/>
          </a:prstGeom>
          <a:ln w="12700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5166360" y="1527120"/>
            <a:ext cx="6308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Manages master data, allocations &amp; system configuration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6"/>
          <p:cNvSpPr/>
          <p:nvPr/>
        </p:nvSpPr>
        <p:spPr>
          <a:xfrm>
            <a:off x="548640" y="2349720"/>
            <a:ext cx="10881360" cy="360"/>
          </a:xfrm>
          <a:prstGeom prst="line">
            <a:avLst/>
          </a:prstGeom>
          <a:ln w="9525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7"/>
          <p:cNvSpPr/>
          <p:nvPr/>
        </p:nvSpPr>
        <p:spPr>
          <a:xfrm>
            <a:off x="548640" y="2578680"/>
            <a:ext cx="109080" cy="109080"/>
          </a:xfrm>
          <a:prstGeom prst="rect">
            <a:avLst/>
          </a:prstGeom>
          <a:solidFill>
            <a:srgbClr val="A655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8"/>
          <p:cNvSpPr/>
          <p:nvPr/>
        </p:nvSpPr>
        <p:spPr>
          <a:xfrm>
            <a:off x="868680" y="245988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Department Manager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9"/>
          <p:cNvSpPr/>
          <p:nvPr/>
        </p:nvSpPr>
        <p:spPr>
          <a:xfrm>
            <a:off x="4846320" y="2459520"/>
            <a:ext cx="360" cy="640080"/>
          </a:xfrm>
          <a:prstGeom prst="line">
            <a:avLst/>
          </a:prstGeom>
          <a:ln w="12700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0"/>
          <p:cNvSpPr/>
          <p:nvPr/>
        </p:nvSpPr>
        <p:spPr>
          <a:xfrm>
            <a:off x="5166360" y="2459880"/>
            <a:ext cx="6308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Requests allocations, views department-level usage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1"/>
          <p:cNvSpPr/>
          <p:nvPr/>
        </p:nvSpPr>
        <p:spPr>
          <a:xfrm>
            <a:off x="548640" y="3282480"/>
            <a:ext cx="10881360" cy="360"/>
          </a:xfrm>
          <a:prstGeom prst="line">
            <a:avLst/>
          </a:prstGeom>
          <a:ln w="9525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2"/>
          <p:cNvSpPr/>
          <p:nvPr/>
        </p:nvSpPr>
        <p:spPr>
          <a:xfrm>
            <a:off x="548640" y="3511440"/>
            <a:ext cx="109080" cy="109080"/>
          </a:xfrm>
          <a:prstGeom prst="rect">
            <a:avLst/>
          </a:prstGeom>
          <a:solidFill>
            <a:srgbClr val="A655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868680" y="339228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Procurement Officer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4"/>
          <p:cNvSpPr/>
          <p:nvPr/>
        </p:nvSpPr>
        <p:spPr>
          <a:xfrm>
            <a:off x="4846320" y="3392280"/>
            <a:ext cx="360" cy="640080"/>
          </a:xfrm>
          <a:prstGeom prst="line">
            <a:avLst/>
          </a:prstGeom>
          <a:ln w="12700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5"/>
          <p:cNvSpPr/>
          <p:nvPr/>
        </p:nvSpPr>
        <p:spPr>
          <a:xfrm>
            <a:off x="5166360" y="3392280"/>
            <a:ext cx="6308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Records purchases, renewals &amp; vendor terms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6"/>
          <p:cNvSpPr/>
          <p:nvPr/>
        </p:nvSpPr>
        <p:spPr>
          <a:xfrm>
            <a:off x="548640" y="4215240"/>
            <a:ext cx="10881360" cy="360"/>
          </a:xfrm>
          <a:prstGeom prst="line">
            <a:avLst/>
          </a:prstGeom>
          <a:ln w="9525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7"/>
          <p:cNvSpPr/>
          <p:nvPr/>
        </p:nvSpPr>
        <p:spPr>
          <a:xfrm>
            <a:off x="548640" y="4443840"/>
            <a:ext cx="109080" cy="109080"/>
          </a:xfrm>
          <a:prstGeom prst="rect">
            <a:avLst/>
          </a:prstGeom>
          <a:solidFill>
            <a:srgbClr val="A655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8"/>
          <p:cNvSpPr/>
          <p:nvPr/>
        </p:nvSpPr>
        <p:spPr>
          <a:xfrm>
            <a:off x="868680" y="432504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Employee / End User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9"/>
          <p:cNvSpPr/>
          <p:nvPr/>
        </p:nvSpPr>
        <p:spPr>
          <a:xfrm>
            <a:off x="4846320" y="4325040"/>
            <a:ext cx="360" cy="640080"/>
          </a:xfrm>
          <a:prstGeom prst="line">
            <a:avLst/>
          </a:prstGeom>
          <a:ln w="12700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0"/>
          <p:cNvSpPr/>
          <p:nvPr/>
        </p:nvSpPr>
        <p:spPr>
          <a:xfrm>
            <a:off x="5166360" y="4325040"/>
            <a:ext cx="6308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Uses allocated licenses on registered devices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1"/>
          <p:cNvSpPr/>
          <p:nvPr/>
        </p:nvSpPr>
        <p:spPr>
          <a:xfrm>
            <a:off x="548640" y="5148000"/>
            <a:ext cx="10881360" cy="360"/>
          </a:xfrm>
          <a:prstGeom prst="line">
            <a:avLst/>
          </a:prstGeom>
          <a:ln w="9525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2"/>
          <p:cNvSpPr/>
          <p:nvPr/>
        </p:nvSpPr>
        <p:spPr>
          <a:xfrm>
            <a:off x="548640" y="5376600"/>
            <a:ext cx="109080" cy="109080"/>
          </a:xfrm>
          <a:prstGeom prst="rect">
            <a:avLst/>
          </a:prstGeom>
          <a:solidFill>
            <a:srgbClr val="A655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45000" rIns="5472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3"/>
          <p:cNvSpPr/>
          <p:nvPr/>
        </p:nvSpPr>
        <p:spPr>
          <a:xfrm>
            <a:off x="868680" y="525780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Compliance Officer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4"/>
          <p:cNvSpPr/>
          <p:nvPr/>
        </p:nvSpPr>
        <p:spPr>
          <a:xfrm>
            <a:off x="4846320" y="5257800"/>
            <a:ext cx="360" cy="640080"/>
          </a:xfrm>
          <a:prstGeom prst="line">
            <a:avLst/>
          </a:prstGeom>
          <a:ln w="12700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5"/>
          <p:cNvSpPr/>
          <p:nvPr/>
        </p:nvSpPr>
        <p:spPr>
          <a:xfrm>
            <a:off x="5166360" y="5257800"/>
            <a:ext cx="6308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Runs compliance checks &amp; reviews audit reports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48640" y="320040"/>
            <a:ext cx="9600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C1E21"/>
                </a:solidFill>
                <a:effectLst/>
                <a:uFillTx/>
                <a:latin typeface="Cambria"/>
                <a:ea typeface="Cambria"/>
              </a:rPr>
              <a:t>Software Requirements Specification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48640" y="82296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Functional Requirements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566640" y="1188720"/>
            <a:ext cx="502920" cy="360"/>
          </a:xfrm>
          <a:prstGeom prst="line">
            <a:avLst/>
          </a:prstGeom>
          <a:ln w="2540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548640" y="155448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Purchase &amp; Allocation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4"/>
          <p:cNvSpPr/>
          <p:nvPr/>
        </p:nvSpPr>
        <p:spPr>
          <a:xfrm>
            <a:off x="548640" y="2029680"/>
            <a:ext cx="3383280" cy="360"/>
          </a:xfrm>
          <a:prstGeom prst="line">
            <a:avLst/>
          </a:prstGeom>
          <a:ln w="12700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548640" y="2240280"/>
            <a:ext cx="685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CD6CC"/>
                </a:solidFill>
                <a:effectLst/>
                <a:uFillTx/>
                <a:latin typeface="Consolas"/>
                <a:ea typeface="Consolas"/>
              </a:rPr>
              <a:t>FR01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548640" y="2532960"/>
            <a:ext cx="3382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Record purchases against vendors and software products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548640" y="3410640"/>
            <a:ext cx="685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CD6CC"/>
                </a:solidFill>
                <a:effectLst/>
                <a:uFillTx/>
                <a:latin typeface="Consolas"/>
                <a:ea typeface="Consolas"/>
              </a:rPr>
              <a:t>FR02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548640" y="3703320"/>
            <a:ext cx="3382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Allocate licenses to departments, users &amp; devices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548640" y="4581000"/>
            <a:ext cx="685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CD6CC"/>
                </a:solidFill>
                <a:effectLst/>
                <a:uFillTx/>
                <a:latin typeface="Consolas"/>
                <a:ea typeface="Consolas"/>
              </a:rPr>
              <a:t>FR03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548640" y="4873680"/>
            <a:ext cx="3382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Reclaim licenses when no longer needed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4297680" y="155448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Monitoring &amp; Compliance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4297680" y="2029680"/>
            <a:ext cx="3383280" cy="360"/>
          </a:xfrm>
          <a:prstGeom prst="line">
            <a:avLst/>
          </a:prstGeom>
          <a:ln w="12700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4297680" y="2240280"/>
            <a:ext cx="685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CD6CC"/>
                </a:solidFill>
                <a:effectLst/>
                <a:uFillTx/>
                <a:latin typeface="Consolas"/>
                <a:ea typeface="Consolas"/>
              </a:rPr>
              <a:t>FR04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4297680" y="2532960"/>
            <a:ext cx="3382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Monitor upcoming and past license expiry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4297680" y="3410640"/>
            <a:ext cx="685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CD6CC"/>
                </a:solidFill>
                <a:effectLst/>
                <a:uFillTx/>
                <a:latin typeface="Consolas"/>
                <a:ea typeface="Consolas"/>
              </a:rPr>
              <a:t>FR05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4297680" y="3703320"/>
            <a:ext cx="3382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Run compliance checks across active allocations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4297680" y="4581000"/>
            <a:ext cx="685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CD6CC"/>
                </a:solidFill>
                <a:effectLst/>
                <a:uFillTx/>
                <a:latin typeface="Consolas"/>
                <a:ea typeface="Consolas"/>
              </a:rPr>
              <a:t>FR06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8"/>
          <p:cNvSpPr/>
          <p:nvPr/>
        </p:nvSpPr>
        <p:spPr>
          <a:xfrm>
            <a:off x="4297680" y="4873680"/>
            <a:ext cx="3382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Process renewals and track renewal cost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9"/>
          <p:cNvSpPr/>
          <p:nvPr/>
        </p:nvSpPr>
        <p:spPr>
          <a:xfrm>
            <a:off x="8046720" y="1554480"/>
            <a:ext cx="3382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A6552C"/>
                </a:solidFill>
                <a:effectLst/>
                <a:uFillTx/>
                <a:latin typeface="Calibri"/>
                <a:ea typeface="Calibri"/>
              </a:rPr>
              <a:t>Reporting &amp; Audit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0"/>
          <p:cNvSpPr/>
          <p:nvPr/>
        </p:nvSpPr>
        <p:spPr>
          <a:xfrm>
            <a:off x="8046720" y="2029680"/>
            <a:ext cx="3383280" cy="360"/>
          </a:xfrm>
          <a:prstGeom prst="line">
            <a:avLst/>
          </a:prstGeom>
          <a:ln w="12700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8046720" y="2240280"/>
            <a:ext cx="685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CD6CC"/>
                </a:solidFill>
                <a:effectLst/>
                <a:uFillTx/>
                <a:latin typeface="Consolas"/>
                <a:ea typeface="Consolas"/>
              </a:rPr>
              <a:t>FR07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2"/>
          <p:cNvSpPr/>
          <p:nvPr/>
        </p:nvSpPr>
        <p:spPr>
          <a:xfrm>
            <a:off x="8046720" y="2532960"/>
            <a:ext cx="3382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Generate utilization &amp; department allocation reports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3"/>
          <p:cNvSpPr/>
          <p:nvPr/>
        </p:nvSpPr>
        <p:spPr>
          <a:xfrm>
            <a:off x="8046720" y="3410640"/>
            <a:ext cx="685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CD6CC"/>
                </a:solidFill>
                <a:effectLst/>
                <a:uFillTx/>
                <a:latin typeface="Consolas"/>
                <a:ea typeface="Consolas"/>
              </a:rPr>
              <a:t>FR08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4"/>
          <p:cNvSpPr/>
          <p:nvPr/>
        </p:nvSpPr>
        <p:spPr>
          <a:xfrm>
            <a:off x="8046720" y="3703320"/>
            <a:ext cx="3382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Search, filter and audit historical allocation records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548640" y="320040"/>
            <a:ext cx="9600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C1E21"/>
                </a:solidFill>
                <a:effectLst/>
                <a:uFillTx/>
                <a:latin typeface="Cambria"/>
                <a:ea typeface="Cambria"/>
              </a:rPr>
              <a:t>Software Requirements Specification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548640" y="82296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Non-Functional Requirements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566640" y="1188720"/>
            <a:ext cx="502920" cy="360"/>
          </a:xfrm>
          <a:prstGeom prst="line">
            <a:avLst/>
          </a:prstGeom>
          <a:ln w="2540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548640" y="1554480"/>
            <a:ext cx="5257080" cy="1416600"/>
          </a:xfrm>
          <a:prstGeom prst="rect">
            <a:avLst/>
          </a:prstGeom>
          <a:noFill/>
          <a:ln w="12700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804600" y="1691640"/>
            <a:ext cx="4799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Performance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804600" y="2084760"/>
            <a:ext cx="4799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Expiry, utilization and compliance reports return within a few seconds for typical department-level data volumes.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7"/>
          <p:cNvSpPr/>
          <p:nvPr/>
        </p:nvSpPr>
        <p:spPr>
          <a:xfrm>
            <a:off x="6172200" y="1554480"/>
            <a:ext cx="5257080" cy="1416600"/>
          </a:xfrm>
          <a:prstGeom prst="rect">
            <a:avLst/>
          </a:prstGeom>
          <a:noFill/>
          <a:ln w="12700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6428160" y="1691640"/>
            <a:ext cx="4799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Security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6428160" y="2084760"/>
            <a:ext cx="4799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Role-based access control restricts license keys and vendor contract data to authorized roles only.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1"/>
          <p:cNvSpPr/>
          <p:nvPr/>
        </p:nvSpPr>
        <p:spPr>
          <a:xfrm>
            <a:off x="548640" y="3154680"/>
            <a:ext cx="5257080" cy="1416600"/>
          </a:xfrm>
          <a:prstGeom prst="rect">
            <a:avLst/>
          </a:prstGeom>
          <a:noFill/>
          <a:ln w="12700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3"/>
          <p:cNvSpPr/>
          <p:nvPr/>
        </p:nvSpPr>
        <p:spPr>
          <a:xfrm>
            <a:off x="804600" y="3291840"/>
            <a:ext cx="4799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Data Integrity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804600" y="3684960"/>
            <a:ext cx="4799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Business rules — unique keys, quantity limits, valid periods — are enforced at the database level via constraints.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5"/>
          <p:cNvSpPr/>
          <p:nvPr/>
        </p:nvSpPr>
        <p:spPr>
          <a:xfrm>
            <a:off x="6172200" y="3154680"/>
            <a:ext cx="5257080" cy="1416600"/>
          </a:xfrm>
          <a:prstGeom prst="rect">
            <a:avLst/>
          </a:prstGeom>
          <a:noFill/>
          <a:ln w="12700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7"/>
          <p:cNvSpPr/>
          <p:nvPr/>
        </p:nvSpPr>
        <p:spPr>
          <a:xfrm>
            <a:off x="6428160" y="3291840"/>
            <a:ext cx="4799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Reliability &amp; Availability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8"/>
          <p:cNvSpPr/>
          <p:nvPr/>
        </p:nvSpPr>
        <p:spPr>
          <a:xfrm>
            <a:off x="6428160" y="3684960"/>
            <a:ext cx="4799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Allocation and compliance transactions remain consistent (ACID) with regular scheduled backups.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9"/>
          <p:cNvSpPr/>
          <p:nvPr/>
        </p:nvSpPr>
        <p:spPr>
          <a:xfrm>
            <a:off x="548640" y="4754880"/>
            <a:ext cx="5257080" cy="1416600"/>
          </a:xfrm>
          <a:prstGeom prst="rect">
            <a:avLst/>
          </a:prstGeom>
          <a:noFill/>
          <a:ln w="12700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1"/>
          <p:cNvSpPr/>
          <p:nvPr/>
        </p:nvSpPr>
        <p:spPr>
          <a:xfrm>
            <a:off x="804600" y="4892040"/>
            <a:ext cx="4799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Usability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2"/>
          <p:cNvSpPr/>
          <p:nvPr/>
        </p:nvSpPr>
        <p:spPr>
          <a:xfrm>
            <a:off x="804600" y="5285160"/>
            <a:ext cx="4799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Department managers and end users can request or view allocations without technical database knowledge.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3"/>
          <p:cNvSpPr/>
          <p:nvPr/>
        </p:nvSpPr>
        <p:spPr>
          <a:xfrm>
            <a:off x="6172200" y="4754880"/>
            <a:ext cx="5257080" cy="1416600"/>
          </a:xfrm>
          <a:prstGeom prst="rect">
            <a:avLst/>
          </a:prstGeom>
          <a:noFill/>
          <a:ln w="12700">
            <a:solidFill>
              <a:srgbClr val="DAD7D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5"/>
          <p:cNvSpPr/>
          <p:nvPr/>
        </p:nvSpPr>
        <p:spPr>
          <a:xfrm>
            <a:off x="6428160" y="4892040"/>
            <a:ext cx="4799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Scalability &amp; Maintainability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6"/>
          <p:cNvSpPr/>
          <p:nvPr/>
        </p:nvSpPr>
        <p:spPr>
          <a:xfrm>
            <a:off x="6428160" y="5285160"/>
            <a:ext cx="4799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New vendors, departments and license types can be added without structural schema changes.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548640" y="320040"/>
            <a:ext cx="9600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C1E21"/>
                </a:solidFill>
                <a:effectLst/>
                <a:uFillTx/>
                <a:latin typeface="Cambria"/>
                <a:ea typeface="Cambria"/>
              </a:rPr>
              <a:t>Conceptual Design — ER Model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548640" y="82296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Key attributes per entity (primary key underlined)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566640" y="1188720"/>
            <a:ext cx="502920" cy="360"/>
          </a:xfrm>
          <a:prstGeom prst="line">
            <a:avLst/>
          </a:prstGeom>
          <a:ln w="2540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"/>
          <p:cNvSpPr/>
          <p:nvPr/>
        </p:nvSpPr>
        <p:spPr>
          <a:xfrm>
            <a:off x="1805760" y="1947600"/>
            <a:ext cx="360" cy="210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4"/>
          <p:cNvSpPr/>
          <p:nvPr/>
        </p:nvSpPr>
        <p:spPr>
          <a:xfrm>
            <a:off x="1805760" y="2596680"/>
            <a:ext cx="360" cy="192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1028880" y="158184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1028880" y="158184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sng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vendor_id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7"/>
          <p:cNvSpPr/>
          <p:nvPr/>
        </p:nvSpPr>
        <p:spPr>
          <a:xfrm>
            <a:off x="937440" y="2157840"/>
            <a:ext cx="1736640" cy="438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937440" y="2157840"/>
            <a:ext cx="17366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VENDOR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9"/>
          <p:cNvSpPr/>
          <p:nvPr/>
        </p:nvSpPr>
        <p:spPr>
          <a:xfrm>
            <a:off x="1028880" y="278892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0"/>
          <p:cNvSpPr/>
          <p:nvPr/>
        </p:nvSpPr>
        <p:spPr>
          <a:xfrm>
            <a:off x="1028880" y="278892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vendor_name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1"/>
          <p:cNvSpPr/>
          <p:nvPr/>
        </p:nvSpPr>
        <p:spPr>
          <a:xfrm>
            <a:off x="4613040" y="1947600"/>
            <a:ext cx="360" cy="210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2"/>
          <p:cNvSpPr/>
          <p:nvPr/>
        </p:nvSpPr>
        <p:spPr>
          <a:xfrm>
            <a:off x="4613040" y="2596680"/>
            <a:ext cx="360" cy="192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3"/>
          <p:cNvSpPr/>
          <p:nvPr/>
        </p:nvSpPr>
        <p:spPr>
          <a:xfrm>
            <a:off x="3835800" y="158184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4"/>
          <p:cNvSpPr/>
          <p:nvPr/>
        </p:nvSpPr>
        <p:spPr>
          <a:xfrm>
            <a:off x="3835800" y="158184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sng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product_id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5"/>
          <p:cNvSpPr/>
          <p:nvPr/>
        </p:nvSpPr>
        <p:spPr>
          <a:xfrm>
            <a:off x="3744360" y="2157840"/>
            <a:ext cx="1736640" cy="438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6"/>
          <p:cNvSpPr/>
          <p:nvPr/>
        </p:nvSpPr>
        <p:spPr>
          <a:xfrm>
            <a:off x="3744360" y="2157840"/>
            <a:ext cx="17366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SOFTWARE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PRODUCT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7"/>
          <p:cNvSpPr/>
          <p:nvPr/>
        </p:nvSpPr>
        <p:spPr>
          <a:xfrm>
            <a:off x="3835800" y="278892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8"/>
          <p:cNvSpPr/>
          <p:nvPr/>
        </p:nvSpPr>
        <p:spPr>
          <a:xfrm>
            <a:off x="3835800" y="278892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product_name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9"/>
          <p:cNvSpPr/>
          <p:nvPr/>
        </p:nvSpPr>
        <p:spPr>
          <a:xfrm>
            <a:off x="7420320" y="1947600"/>
            <a:ext cx="360" cy="210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0"/>
          <p:cNvSpPr/>
          <p:nvPr/>
        </p:nvSpPr>
        <p:spPr>
          <a:xfrm>
            <a:off x="7420320" y="2596680"/>
            <a:ext cx="360" cy="192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1"/>
          <p:cNvSpPr/>
          <p:nvPr/>
        </p:nvSpPr>
        <p:spPr>
          <a:xfrm>
            <a:off x="6643080" y="158184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2"/>
          <p:cNvSpPr/>
          <p:nvPr/>
        </p:nvSpPr>
        <p:spPr>
          <a:xfrm>
            <a:off x="6643080" y="158184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sng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license_type_id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3"/>
          <p:cNvSpPr/>
          <p:nvPr/>
        </p:nvSpPr>
        <p:spPr>
          <a:xfrm>
            <a:off x="6551640" y="2157840"/>
            <a:ext cx="1736640" cy="438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4"/>
          <p:cNvSpPr/>
          <p:nvPr/>
        </p:nvSpPr>
        <p:spPr>
          <a:xfrm>
            <a:off x="6551640" y="2157840"/>
            <a:ext cx="17366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LICENSE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TYPE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5"/>
          <p:cNvSpPr/>
          <p:nvPr/>
        </p:nvSpPr>
        <p:spPr>
          <a:xfrm>
            <a:off x="6643080" y="278892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6"/>
          <p:cNvSpPr/>
          <p:nvPr/>
        </p:nvSpPr>
        <p:spPr>
          <a:xfrm>
            <a:off x="6643080" y="278892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type_name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7"/>
          <p:cNvSpPr/>
          <p:nvPr/>
        </p:nvSpPr>
        <p:spPr>
          <a:xfrm>
            <a:off x="10227240" y="1947600"/>
            <a:ext cx="360" cy="210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8"/>
          <p:cNvSpPr/>
          <p:nvPr/>
        </p:nvSpPr>
        <p:spPr>
          <a:xfrm>
            <a:off x="10227240" y="2596680"/>
            <a:ext cx="360" cy="192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9"/>
          <p:cNvSpPr/>
          <p:nvPr/>
        </p:nvSpPr>
        <p:spPr>
          <a:xfrm>
            <a:off x="9450360" y="158184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0"/>
          <p:cNvSpPr/>
          <p:nvPr/>
        </p:nvSpPr>
        <p:spPr>
          <a:xfrm>
            <a:off x="9450360" y="158184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sng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license_id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31"/>
          <p:cNvSpPr/>
          <p:nvPr/>
        </p:nvSpPr>
        <p:spPr>
          <a:xfrm>
            <a:off x="9358920" y="2157840"/>
            <a:ext cx="1736640" cy="438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2"/>
          <p:cNvSpPr/>
          <p:nvPr/>
        </p:nvSpPr>
        <p:spPr>
          <a:xfrm>
            <a:off x="9358920" y="2157840"/>
            <a:ext cx="17366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LICENSE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3"/>
          <p:cNvSpPr/>
          <p:nvPr/>
        </p:nvSpPr>
        <p:spPr>
          <a:xfrm>
            <a:off x="9450360" y="278892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4"/>
          <p:cNvSpPr/>
          <p:nvPr/>
        </p:nvSpPr>
        <p:spPr>
          <a:xfrm>
            <a:off x="9450360" y="278892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license_key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5"/>
          <p:cNvSpPr/>
          <p:nvPr/>
        </p:nvSpPr>
        <p:spPr>
          <a:xfrm>
            <a:off x="1805760" y="3730680"/>
            <a:ext cx="360" cy="210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6"/>
          <p:cNvSpPr/>
          <p:nvPr/>
        </p:nvSpPr>
        <p:spPr>
          <a:xfrm>
            <a:off x="1805760" y="4379760"/>
            <a:ext cx="360" cy="192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7"/>
          <p:cNvSpPr/>
          <p:nvPr/>
        </p:nvSpPr>
        <p:spPr>
          <a:xfrm>
            <a:off x="1028880" y="336492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8"/>
          <p:cNvSpPr/>
          <p:nvPr/>
        </p:nvSpPr>
        <p:spPr>
          <a:xfrm>
            <a:off x="1028880" y="336492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sng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subscription_id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9"/>
          <p:cNvSpPr/>
          <p:nvPr/>
        </p:nvSpPr>
        <p:spPr>
          <a:xfrm>
            <a:off x="937440" y="3940920"/>
            <a:ext cx="1736640" cy="438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40"/>
          <p:cNvSpPr/>
          <p:nvPr/>
        </p:nvSpPr>
        <p:spPr>
          <a:xfrm>
            <a:off x="937440" y="3940920"/>
            <a:ext cx="17366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SUBSCRIPTION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41"/>
          <p:cNvSpPr/>
          <p:nvPr/>
        </p:nvSpPr>
        <p:spPr>
          <a:xfrm>
            <a:off x="1028880" y="457200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2"/>
          <p:cNvSpPr/>
          <p:nvPr/>
        </p:nvSpPr>
        <p:spPr>
          <a:xfrm>
            <a:off x="1028880" y="457200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billing_cycle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43"/>
          <p:cNvSpPr/>
          <p:nvPr/>
        </p:nvSpPr>
        <p:spPr>
          <a:xfrm>
            <a:off x="4613040" y="3730680"/>
            <a:ext cx="360" cy="210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44"/>
          <p:cNvSpPr/>
          <p:nvPr/>
        </p:nvSpPr>
        <p:spPr>
          <a:xfrm>
            <a:off x="4613040" y="4379760"/>
            <a:ext cx="360" cy="192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45"/>
          <p:cNvSpPr/>
          <p:nvPr/>
        </p:nvSpPr>
        <p:spPr>
          <a:xfrm>
            <a:off x="3835800" y="336492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46"/>
          <p:cNvSpPr/>
          <p:nvPr/>
        </p:nvSpPr>
        <p:spPr>
          <a:xfrm>
            <a:off x="3835800" y="336492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sng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department_id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47"/>
          <p:cNvSpPr/>
          <p:nvPr/>
        </p:nvSpPr>
        <p:spPr>
          <a:xfrm>
            <a:off x="3744360" y="3940920"/>
            <a:ext cx="1736640" cy="438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48"/>
          <p:cNvSpPr/>
          <p:nvPr/>
        </p:nvSpPr>
        <p:spPr>
          <a:xfrm>
            <a:off x="3744360" y="3940920"/>
            <a:ext cx="17366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DEPARTMENT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49"/>
          <p:cNvSpPr/>
          <p:nvPr/>
        </p:nvSpPr>
        <p:spPr>
          <a:xfrm>
            <a:off x="3835800" y="457200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50"/>
          <p:cNvSpPr/>
          <p:nvPr/>
        </p:nvSpPr>
        <p:spPr>
          <a:xfrm>
            <a:off x="3835800" y="457200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department_name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51"/>
          <p:cNvSpPr/>
          <p:nvPr/>
        </p:nvSpPr>
        <p:spPr>
          <a:xfrm>
            <a:off x="7420320" y="3730680"/>
            <a:ext cx="360" cy="210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52"/>
          <p:cNvSpPr/>
          <p:nvPr/>
        </p:nvSpPr>
        <p:spPr>
          <a:xfrm>
            <a:off x="7420320" y="4379760"/>
            <a:ext cx="360" cy="192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53"/>
          <p:cNvSpPr/>
          <p:nvPr/>
        </p:nvSpPr>
        <p:spPr>
          <a:xfrm>
            <a:off x="6643080" y="336492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4"/>
          <p:cNvSpPr/>
          <p:nvPr/>
        </p:nvSpPr>
        <p:spPr>
          <a:xfrm>
            <a:off x="6643080" y="336492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sng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user_id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55"/>
          <p:cNvSpPr/>
          <p:nvPr/>
        </p:nvSpPr>
        <p:spPr>
          <a:xfrm>
            <a:off x="6551640" y="3940920"/>
            <a:ext cx="1736640" cy="438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56"/>
          <p:cNvSpPr/>
          <p:nvPr/>
        </p:nvSpPr>
        <p:spPr>
          <a:xfrm>
            <a:off x="6551640" y="3940920"/>
            <a:ext cx="17366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USER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57"/>
          <p:cNvSpPr/>
          <p:nvPr/>
        </p:nvSpPr>
        <p:spPr>
          <a:xfrm>
            <a:off x="6643080" y="457200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58"/>
          <p:cNvSpPr/>
          <p:nvPr/>
        </p:nvSpPr>
        <p:spPr>
          <a:xfrm>
            <a:off x="6643080" y="457200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user_name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59"/>
          <p:cNvSpPr/>
          <p:nvPr/>
        </p:nvSpPr>
        <p:spPr>
          <a:xfrm>
            <a:off x="10227240" y="3730680"/>
            <a:ext cx="360" cy="210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60"/>
          <p:cNvSpPr/>
          <p:nvPr/>
        </p:nvSpPr>
        <p:spPr>
          <a:xfrm>
            <a:off x="10227240" y="4379760"/>
            <a:ext cx="360" cy="192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61"/>
          <p:cNvSpPr/>
          <p:nvPr/>
        </p:nvSpPr>
        <p:spPr>
          <a:xfrm>
            <a:off x="9450360" y="336492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62"/>
          <p:cNvSpPr/>
          <p:nvPr/>
        </p:nvSpPr>
        <p:spPr>
          <a:xfrm>
            <a:off x="9450360" y="336492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sng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device_id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63"/>
          <p:cNvSpPr/>
          <p:nvPr/>
        </p:nvSpPr>
        <p:spPr>
          <a:xfrm>
            <a:off x="9358920" y="3940920"/>
            <a:ext cx="1736640" cy="438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64"/>
          <p:cNvSpPr/>
          <p:nvPr/>
        </p:nvSpPr>
        <p:spPr>
          <a:xfrm>
            <a:off x="9358920" y="3940920"/>
            <a:ext cx="17366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DEVICE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65"/>
          <p:cNvSpPr/>
          <p:nvPr/>
        </p:nvSpPr>
        <p:spPr>
          <a:xfrm>
            <a:off x="9450360" y="457200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66"/>
          <p:cNvSpPr/>
          <p:nvPr/>
        </p:nvSpPr>
        <p:spPr>
          <a:xfrm>
            <a:off x="9450360" y="457200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device_type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67"/>
          <p:cNvSpPr/>
          <p:nvPr/>
        </p:nvSpPr>
        <p:spPr>
          <a:xfrm>
            <a:off x="1805760" y="5513760"/>
            <a:ext cx="360" cy="210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68"/>
          <p:cNvSpPr/>
          <p:nvPr/>
        </p:nvSpPr>
        <p:spPr>
          <a:xfrm>
            <a:off x="1805760" y="6162840"/>
            <a:ext cx="360" cy="192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69"/>
          <p:cNvSpPr/>
          <p:nvPr/>
        </p:nvSpPr>
        <p:spPr>
          <a:xfrm>
            <a:off x="1028880" y="514800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70"/>
          <p:cNvSpPr/>
          <p:nvPr/>
        </p:nvSpPr>
        <p:spPr>
          <a:xfrm>
            <a:off x="1028880" y="514800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sng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allocation_id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71"/>
          <p:cNvSpPr/>
          <p:nvPr/>
        </p:nvSpPr>
        <p:spPr>
          <a:xfrm>
            <a:off x="937440" y="5724000"/>
            <a:ext cx="1736640" cy="438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72"/>
          <p:cNvSpPr/>
          <p:nvPr/>
        </p:nvSpPr>
        <p:spPr>
          <a:xfrm>
            <a:off x="937440" y="5724000"/>
            <a:ext cx="17366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ALLOCATION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73"/>
          <p:cNvSpPr/>
          <p:nvPr/>
        </p:nvSpPr>
        <p:spPr>
          <a:xfrm>
            <a:off x="1028880" y="635508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74"/>
          <p:cNvSpPr/>
          <p:nvPr/>
        </p:nvSpPr>
        <p:spPr>
          <a:xfrm>
            <a:off x="1028880" y="635508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allocation_date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75"/>
          <p:cNvSpPr/>
          <p:nvPr/>
        </p:nvSpPr>
        <p:spPr>
          <a:xfrm>
            <a:off x="4613040" y="5513760"/>
            <a:ext cx="360" cy="210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76"/>
          <p:cNvSpPr/>
          <p:nvPr/>
        </p:nvSpPr>
        <p:spPr>
          <a:xfrm>
            <a:off x="4613040" y="6162840"/>
            <a:ext cx="360" cy="192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77"/>
          <p:cNvSpPr/>
          <p:nvPr/>
        </p:nvSpPr>
        <p:spPr>
          <a:xfrm>
            <a:off x="3835800" y="514800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78"/>
          <p:cNvSpPr/>
          <p:nvPr/>
        </p:nvSpPr>
        <p:spPr>
          <a:xfrm>
            <a:off x="3835800" y="514800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sng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purchase_id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79"/>
          <p:cNvSpPr/>
          <p:nvPr/>
        </p:nvSpPr>
        <p:spPr>
          <a:xfrm>
            <a:off x="3744360" y="5724000"/>
            <a:ext cx="1736640" cy="438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80"/>
          <p:cNvSpPr/>
          <p:nvPr/>
        </p:nvSpPr>
        <p:spPr>
          <a:xfrm>
            <a:off x="3744360" y="5724000"/>
            <a:ext cx="17366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PURCHASE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81"/>
          <p:cNvSpPr/>
          <p:nvPr/>
        </p:nvSpPr>
        <p:spPr>
          <a:xfrm>
            <a:off x="3835800" y="635508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82"/>
          <p:cNvSpPr/>
          <p:nvPr/>
        </p:nvSpPr>
        <p:spPr>
          <a:xfrm>
            <a:off x="3835800" y="635508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purchase_date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83"/>
          <p:cNvSpPr/>
          <p:nvPr/>
        </p:nvSpPr>
        <p:spPr>
          <a:xfrm>
            <a:off x="7420320" y="5513760"/>
            <a:ext cx="360" cy="210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84"/>
          <p:cNvSpPr/>
          <p:nvPr/>
        </p:nvSpPr>
        <p:spPr>
          <a:xfrm>
            <a:off x="7420320" y="6162840"/>
            <a:ext cx="360" cy="192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85"/>
          <p:cNvSpPr/>
          <p:nvPr/>
        </p:nvSpPr>
        <p:spPr>
          <a:xfrm>
            <a:off x="6643080" y="514800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86"/>
          <p:cNvSpPr/>
          <p:nvPr/>
        </p:nvSpPr>
        <p:spPr>
          <a:xfrm>
            <a:off x="6643080" y="514800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sng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renewal_id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87"/>
          <p:cNvSpPr/>
          <p:nvPr/>
        </p:nvSpPr>
        <p:spPr>
          <a:xfrm>
            <a:off x="6551640" y="5724000"/>
            <a:ext cx="1736640" cy="438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88"/>
          <p:cNvSpPr/>
          <p:nvPr/>
        </p:nvSpPr>
        <p:spPr>
          <a:xfrm>
            <a:off x="6551640" y="5724000"/>
            <a:ext cx="17366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RENEWAL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89"/>
          <p:cNvSpPr/>
          <p:nvPr/>
        </p:nvSpPr>
        <p:spPr>
          <a:xfrm>
            <a:off x="6643080" y="635508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90"/>
          <p:cNvSpPr/>
          <p:nvPr/>
        </p:nvSpPr>
        <p:spPr>
          <a:xfrm>
            <a:off x="6643080" y="635508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renewal_amount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91"/>
          <p:cNvSpPr/>
          <p:nvPr/>
        </p:nvSpPr>
        <p:spPr>
          <a:xfrm>
            <a:off x="10227240" y="5513760"/>
            <a:ext cx="360" cy="210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92"/>
          <p:cNvSpPr/>
          <p:nvPr/>
        </p:nvSpPr>
        <p:spPr>
          <a:xfrm>
            <a:off x="10227240" y="6162840"/>
            <a:ext cx="360" cy="192240"/>
          </a:xfrm>
          <a:prstGeom prst="line">
            <a:avLst/>
          </a:prstGeom>
          <a:ln w="1270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93"/>
          <p:cNvSpPr/>
          <p:nvPr/>
        </p:nvSpPr>
        <p:spPr>
          <a:xfrm>
            <a:off x="9450360" y="514800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94"/>
          <p:cNvSpPr/>
          <p:nvPr/>
        </p:nvSpPr>
        <p:spPr>
          <a:xfrm>
            <a:off x="9450360" y="514800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sng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check_id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95"/>
          <p:cNvSpPr/>
          <p:nvPr/>
        </p:nvSpPr>
        <p:spPr>
          <a:xfrm>
            <a:off x="9358920" y="5724000"/>
            <a:ext cx="1736640" cy="438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96"/>
          <p:cNvSpPr/>
          <p:nvPr/>
        </p:nvSpPr>
        <p:spPr>
          <a:xfrm>
            <a:off x="9358920" y="5724000"/>
            <a:ext cx="17366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COMPLIANCE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CHECK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97"/>
          <p:cNvSpPr/>
          <p:nvPr/>
        </p:nvSpPr>
        <p:spPr>
          <a:xfrm>
            <a:off x="9450360" y="6355080"/>
            <a:ext cx="1553760" cy="365040"/>
          </a:xfrm>
          <a:prstGeom prst="ellipse">
            <a:avLst/>
          </a:prstGeom>
          <a:solidFill>
            <a:srgbClr val="FBF9F6"/>
          </a:solidFill>
          <a:ln w="12700">
            <a:solidFill>
              <a:srgbClr val="5B687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98"/>
          <p:cNvSpPr/>
          <p:nvPr/>
        </p:nvSpPr>
        <p:spPr>
          <a:xfrm>
            <a:off x="9450360" y="6355080"/>
            <a:ext cx="1553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check_status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/>
          <p:nvPr/>
        </p:nvSpPr>
        <p:spPr>
          <a:xfrm>
            <a:off x="548640" y="320040"/>
            <a:ext cx="9600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C1E21"/>
                </a:solidFill>
                <a:effectLst/>
                <a:uFillTx/>
                <a:latin typeface="Cambria"/>
                <a:ea typeface="Cambria"/>
              </a:rPr>
              <a:t>Conceptual Design — ER Model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548640" y="82296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Entities and their relationships (Chen notation)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"/>
          <p:cNvSpPr/>
          <p:nvPr/>
        </p:nvSpPr>
        <p:spPr>
          <a:xfrm>
            <a:off x="566640" y="1188720"/>
            <a:ext cx="502920" cy="360"/>
          </a:xfrm>
          <a:prstGeom prst="line">
            <a:avLst/>
          </a:prstGeom>
          <a:ln w="2540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3"/>
          <p:cNvSpPr/>
          <p:nvPr/>
        </p:nvSpPr>
        <p:spPr>
          <a:xfrm>
            <a:off x="2811600" y="1600200"/>
            <a:ext cx="2217600" cy="1280160"/>
          </a:xfrm>
          <a:prstGeom prst="line">
            <a:avLst/>
          </a:prstGeom>
          <a:ln w="1397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4"/>
          <p:cNvSpPr/>
          <p:nvPr/>
        </p:nvSpPr>
        <p:spPr>
          <a:xfrm>
            <a:off x="6080760" y="1828800"/>
            <a:ext cx="9000" cy="754200"/>
          </a:xfrm>
          <a:prstGeom prst="line">
            <a:avLst/>
          </a:prstGeom>
          <a:ln w="1397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5000" rIns="432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5"/>
          <p:cNvSpPr/>
          <p:nvPr/>
        </p:nvSpPr>
        <p:spPr>
          <a:xfrm flipH="1">
            <a:off x="7132320" y="1600200"/>
            <a:ext cx="2217240" cy="1280160"/>
          </a:xfrm>
          <a:prstGeom prst="line">
            <a:avLst/>
          </a:prstGeom>
          <a:ln w="1397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6"/>
          <p:cNvSpPr/>
          <p:nvPr/>
        </p:nvSpPr>
        <p:spPr>
          <a:xfrm flipH="1">
            <a:off x="2811600" y="2880360"/>
            <a:ext cx="2217600" cy="1280160"/>
          </a:xfrm>
          <a:prstGeom prst="line">
            <a:avLst/>
          </a:prstGeom>
          <a:ln w="1397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7"/>
          <p:cNvSpPr/>
          <p:nvPr/>
        </p:nvSpPr>
        <p:spPr>
          <a:xfrm>
            <a:off x="6080760" y="3177360"/>
            <a:ext cx="9000" cy="754560"/>
          </a:xfrm>
          <a:prstGeom prst="line">
            <a:avLst/>
          </a:prstGeom>
          <a:ln w="1397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5000" rIns="432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8"/>
          <p:cNvSpPr/>
          <p:nvPr/>
        </p:nvSpPr>
        <p:spPr>
          <a:xfrm>
            <a:off x="7132320" y="2880360"/>
            <a:ext cx="2217240" cy="1280160"/>
          </a:xfrm>
          <a:prstGeom prst="line">
            <a:avLst/>
          </a:prstGeom>
          <a:ln w="1397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9"/>
          <p:cNvSpPr/>
          <p:nvPr/>
        </p:nvSpPr>
        <p:spPr>
          <a:xfrm flipH="1">
            <a:off x="1097280" y="4389120"/>
            <a:ext cx="914400" cy="923400"/>
          </a:xfrm>
          <a:prstGeom prst="line">
            <a:avLst/>
          </a:prstGeom>
          <a:ln w="1397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0"/>
          <p:cNvSpPr/>
          <p:nvPr/>
        </p:nvSpPr>
        <p:spPr>
          <a:xfrm flipH="1">
            <a:off x="4251960" y="4160520"/>
            <a:ext cx="1028520" cy="1371600"/>
          </a:xfrm>
          <a:prstGeom prst="line">
            <a:avLst/>
          </a:prstGeom>
          <a:ln w="1397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1"/>
          <p:cNvSpPr/>
          <p:nvPr/>
        </p:nvSpPr>
        <p:spPr>
          <a:xfrm>
            <a:off x="6080760" y="4389120"/>
            <a:ext cx="9000" cy="923400"/>
          </a:xfrm>
          <a:prstGeom prst="line">
            <a:avLst/>
          </a:prstGeom>
          <a:ln w="1397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5000" rIns="432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2"/>
          <p:cNvSpPr/>
          <p:nvPr/>
        </p:nvSpPr>
        <p:spPr>
          <a:xfrm>
            <a:off x="6880680" y="4160520"/>
            <a:ext cx="1028880" cy="1371600"/>
          </a:xfrm>
          <a:prstGeom prst="line">
            <a:avLst/>
          </a:prstGeom>
          <a:ln w="1397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3"/>
          <p:cNvSpPr/>
          <p:nvPr/>
        </p:nvSpPr>
        <p:spPr>
          <a:xfrm>
            <a:off x="10149840" y="4389120"/>
            <a:ext cx="822960" cy="923400"/>
          </a:xfrm>
          <a:prstGeom prst="line">
            <a:avLst/>
          </a:prstGeom>
          <a:ln w="13970">
            <a:solidFill>
              <a:srgbClr val="AEB6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4"/>
          <p:cNvSpPr/>
          <p:nvPr/>
        </p:nvSpPr>
        <p:spPr>
          <a:xfrm>
            <a:off x="1211760" y="1371600"/>
            <a:ext cx="1599480" cy="456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5"/>
          <p:cNvSpPr/>
          <p:nvPr/>
        </p:nvSpPr>
        <p:spPr>
          <a:xfrm>
            <a:off x="1211760" y="137160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VENDOR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6"/>
          <p:cNvSpPr/>
          <p:nvPr/>
        </p:nvSpPr>
        <p:spPr>
          <a:xfrm>
            <a:off x="5280840" y="1371600"/>
            <a:ext cx="1599480" cy="456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7"/>
          <p:cNvSpPr/>
          <p:nvPr/>
        </p:nvSpPr>
        <p:spPr>
          <a:xfrm>
            <a:off x="5280840" y="137160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SOFTWARE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PRODUCT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8"/>
          <p:cNvSpPr/>
          <p:nvPr/>
        </p:nvSpPr>
        <p:spPr>
          <a:xfrm>
            <a:off x="9349920" y="1371600"/>
            <a:ext cx="1599480" cy="456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9"/>
          <p:cNvSpPr/>
          <p:nvPr/>
        </p:nvSpPr>
        <p:spPr>
          <a:xfrm>
            <a:off x="9349920" y="137160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LICENSE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TYPE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0"/>
          <p:cNvSpPr/>
          <p:nvPr/>
        </p:nvSpPr>
        <p:spPr>
          <a:xfrm>
            <a:off x="5029200" y="2583360"/>
            <a:ext cx="2102400" cy="593640"/>
          </a:xfrm>
          <a:prstGeom prst="roundRect">
            <a:avLst>
              <a:gd name="adj" fmla="val 4615"/>
            </a:avLst>
          </a:prstGeom>
          <a:solidFill>
            <a:srgbClr val="1C1E21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1"/>
          <p:cNvSpPr/>
          <p:nvPr/>
        </p:nvSpPr>
        <p:spPr>
          <a:xfrm>
            <a:off x="5029200" y="2583360"/>
            <a:ext cx="21024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31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LICENSE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2"/>
          <p:cNvSpPr/>
          <p:nvPr/>
        </p:nvSpPr>
        <p:spPr>
          <a:xfrm>
            <a:off x="1211760" y="3931920"/>
            <a:ext cx="1599480" cy="456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3"/>
          <p:cNvSpPr/>
          <p:nvPr/>
        </p:nvSpPr>
        <p:spPr>
          <a:xfrm>
            <a:off x="1211760" y="393192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PURCHASE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4"/>
          <p:cNvSpPr/>
          <p:nvPr/>
        </p:nvSpPr>
        <p:spPr>
          <a:xfrm>
            <a:off x="5280840" y="3931920"/>
            <a:ext cx="1599480" cy="456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5"/>
          <p:cNvSpPr/>
          <p:nvPr/>
        </p:nvSpPr>
        <p:spPr>
          <a:xfrm>
            <a:off x="5280840" y="393192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ALLOCATION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6"/>
          <p:cNvSpPr/>
          <p:nvPr/>
        </p:nvSpPr>
        <p:spPr>
          <a:xfrm>
            <a:off x="9349920" y="3931920"/>
            <a:ext cx="1599480" cy="456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7"/>
          <p:cNvSpPr/>
          <p:nvPr/>
        </p:nvSpPr>
        <p:spPr>
          <a:xfrm>
            <a:off x="9349920" y="3931920"/>
            <a:ext cx="1599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SUBSCRIPTION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28"/>
          <p:cNvSpPr/>
          <p:nvPr/>
        </p:nvSpPr>
        <p:spPr>
          <a:xfrm>
            <a:off x="411480" y="5312520"/>
            <a:ext cx="1370880" cy="438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9"/>
          <p:cNvSpPr/>
          <p:nvPr/>
        </p:nvSpPr>
        <p:spPr>
          <a:xfrm>
            <a:off x="411480" y="5312520"/>
            <a:ext cx="1370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RENEWAL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30"/>
          <p:cNvSpPr/>
          <p:nvPr/>
        </p:nvSpPr>
        <p:spPr>
          <a:xfrm>
            <a:off x="2880360" y="5312520"/>
            <a:ext cx="1370880" cy="438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1"/>
          <p:cNvSpPr/>
          <p:nvPr/>
        </p:nvSpPr>
        <p:spPr>
          <a:xfrm>
            <a:off x="2880360" y="5312520"/>
            <a:ext cx="1370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DEPARTMENT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32"/>
          <p:cNvSpPr/>
          <p:nvPr/>
        </p:nvSpPr>
        <p:spPr>
          <a:xfrm>
            <a:off x="5394960" y="5312520"/>
            <a:ext cx="1370880" cy="438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3"/>
          <p:cNvSpPr/>
          <p:nvPr/>
        </p:nvSpPr>
        <p:spPr>
          <a:xfrm>
            <a:off x="5394960" y="5312520"/>
            <a:ext cx="1370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USER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34"/>
          <p:cNvSpPr/>
          <p:nvPr/>
        </p:nvSpPr>
        <p:spPr>
          <a:xfrm>
            <a:off x="7909560" y="5312520"/>
            <a:ext cx="1370880" cy="438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5"/>
          <p:cNvSpPr/>
          <p:nvPr/>
        </p:nvSpPr>
        <p:spPr>
          <a:xfrm>
            <a:off x="7909560" y="5312520"/>
            <a:ext cx="1370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DEVICE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36"/>
          <p:cNvSpPr/>
          <p:nvPr/>
        </p:nvSpPr>
        <p:spPr>
          <a:xfrm>
            <a:off x="10287000" y="5312520"/>
            <a:ext cx="1370880" cy="4381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7"/>
          <p:cNvSpPr/>
          <p:nvPr/>
        </p:nvSpPr>
        <p:spPr>
          <a:xfrm>
            <a:off x="10287000" y="5312520"/>
            <a:ext cx="1370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COMPLIANCE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31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CHECK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38"/>
          <p:cNvSpPr/>
          <p:nvPr/>
        </p:nvSpPr>
        <p:spPr>
          <a:xfrm>
            <a:off x="3440520" y="2048400"/>
            <a:ext cx="959400" cy="383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39"/>
          <p:cNvSpPr/>
          <p:nvPr/>
        </p:nvSpPr>
        <p:spPr>
          <a:xfrm>
            <a:off x="3303360" y="2048400"/>
            <a:ext cx="1233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supplies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40"/>
          <p:cNvSpPr/>
          <p:nvPr/>
        </p:nvSpPr>
        <p:spPr>
          <a:xfrm>
            <a:off x="5600880" y="2013840"/>
            <a:ext cx="959400" cy="383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41"/>
          <p:cNvSpPr/>
          <p:nvPr/>
        </p:nvSpPr>
        <p:spPr>
          <a:xfrm>
            <a:off x="5463720" y="2013840"/>
            <a:ext cx="1233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covers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42"/>
          <p:cNvSpPr/>
          <p:nvPr/>
        </p:nvSpPr>
        <p:spPr>
          <a:xfrm>
            <a:off x="7760880" y="2048400"/>
            <a:ext cx="959400" cy="383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43"/>
          <p:cNvSpPr/>
          <p:nvPr/>
        </p:nvSpPr>
        <p:spPr>
          <a:xfrm>
            <a:off x="7623720" y="2048400"/>
            <a:ext cx="1233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classifies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44"/>
          <p:cNvSpPr/>
          <p:nvPr/>
        </p:nvSpPr>
        <p:spPr>
          <a:xfrm>
            <a:off x="3440520" y="3328560"/>
            <a:ext cx="959400" cy="383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45"/>
          <p:cNvSpPr/>
          <p:nvPr/>
        </p:nvSpPr>
        <p:spPr>
          <a:xfrm>
            <a:off x="3303360" y="3328560"/>
            <a:ext cx="1233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acquired via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46"/>
          <p:cNvSpPr/>
          <p:nvPr/>
        </p:nvSpPr>
        <p:spPr>
          <a:xfrm>
            <a:off x="5600880" y="3362760"/>
            <a:ext cx="959400" cy="383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47"/>
          <p:cNvSpPr/>
          <p:nvPr/>
        </p:nvSpPr>
        <p:spPr>
          <a:xfrm>
            <a:off x="5463720" y="3362760"/>
            <a:ext cx="1233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assigned as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8"/>
          <p:cNvSpPr/>
          <p:nvPr/>
        </p:nvSpPr>
        <p:spPr>
          <a:xfrm>
            <a:off x="7760880" y="3328560"/>
            <a:ext cx="959400" cy="383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49"/>
          <p:cNvSpPr/>
          <p:nvPr/>
        </p:nvSpPr>
        <p:spPr>
          <a:xfrm>
            <a:off x="7623720" y="3328560"/>
            <a:ext cx="1233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renewed as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50"/>
          <p:cNvSpPr/>
          <p:nvPr/>
        </p:nvSpPr>
        <p:spPr>
          <a:xfrm>
            <a:off x="1074600" y="4658760"/>
            <a:ext cx="959400" cy="383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51"/>
          <p:cNvSpPr/>
          <p:nvPr/>
        </p:nvSpPr>
        <p:spPr>
          <a:xfrm>
            <a:off x="937440" y="4658760"/>
            <a:ext cx="1233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extended by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52"/>
          <p:cNvSpPr/>
          <p:nvPr/>
        </p:nvSpPr>
        <p:spPr>
          <a:xfrm>
            <a:off x="4286160" y="4654440"/>
            <a:ext cx="959400" cy="383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53"/>
          <p:cNvSpPr/>
          <p:nvPr/>
        </p:nvSpPr>
        <p:spPr>
          <a:xfrm>
            <a:off x="4149000" y="4654440"/>
            <a:ext cx="1233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belongs to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54"/>
          <p:cNvSpPr/>
          <p:nvPr/>
        </p:nvSpPr>
        <p:spPr>
          <a:xfrm>
            <a:off x="5600880" y="4658760"/>
            <a:ext cx="959400" cy="383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55"/>
          <p:cNvSpPr/>
          <p:nvPr/>
        </p:nvSpPr>
        <p:spPr>
          <a:xfrm>
            <a:off x="5463720" y="4658760"/>
            <a:ext cx="1233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used by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56"/>
          <p:cNvSpPr/>
          <p:nvPr/>
        </p:nvSpPr>
        <p:spPr>
          <a:xfrm>
            <a:off x="6915240" y="4654440"/>
            <a:ext cx="959400" cy="383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57"/>
          <p:cNvSpPr/>
          <p:nvPr/>
        </p:nvSpPr>
        <p:spPr>
          <a:xfrm>
            <a:off x="6778080" y="4654440"/>
            <a:ext cx="1233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installed on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58"/>
          <p:cNvSpPr/>
          <p:nvPr/>
        </p:nvSpPr>
        <p:spPr>
          <a:xfrm>
            <a:off x="10081440" y="4658760"/>
            <a:ext cx="959400" cy="38340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59"/>
          <p:cNvSpPr/>
          <p:nvPr/>
        </p:nvSpPr>
        <p:spPr>
          <a:xfrm>
            <a:off x="9944280" y="4658760"/>
            <a:ext cx="12337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Checked by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60"/>
          <p:cNvSpPr/>
          <p:nvPr/>
        </p:nvSpPr>
        <p:spPr>
          <a:xfrm>
            <a:off x="548640" y="6510240"/>
            <a:ext cx="365760" cy="360"/>
          </a:xfrm>
          <a:prstGeom prst="line">
            <a:avLst/>
          </a:prstGeom>
          <a:ln w="1905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61"/>
          <p:cNvSpPr/>
          <p:nvPr/>
        </p:nvSpPr>
        <p:spPr>
          <a:xfrm>
            <a:off x="1005840" y="6327720"/>
            <a:ext cx="10606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Rectangle = entity   ·   Diamond = relationship   ·   Oval = attribute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 0"/>
          <p:cNvSpPr/>
          <p:nvPr/>
        </p:nvSpPr>
        <p:spPr>
          <a:xfrm>
            <a:off x="548640" y="320040"/>
            <a:ext cx="9600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C1E21"/>
                </a:solidFill>
                <a:effectLst/>
                <a:uFillTx/>
                <a:latin typeface="Cambria"/>
                <a:ea typeface="Cambria"/>
              </a:rPr>
              <a:t>Initial Relational Schema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"/>
          <p:cNvSpPr/>
          <p:nvPr/>
        </p:nvSpPr>
        <p:spPr>
          <a:xfrm>
            <a:off x="548640" y="82296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Proposed tables with primary keys and referencing foreign keys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2"/>
          <p:cNvSpPr/>
          <p:nvPr/>
        </p:nvSpPr>
        <p:spPr>
          <a:xfrm>
            <a:off x="566640" y="1188720"/>
            <a:ext cx="502920" cy="360"/>
          </a:xfrm>
          <a:prstGeom prst="line">
            <a:avLst/>
          </a:prstGeom>
          <a:ln w="2540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3"/>
          <p:cNvSpPr/>
          <p:nvPr/>
        </p:nvSpPr>
        <p:spPr>
          <a:xfrm>
            <a:off x="457200" y="1508760"/>
            <a:ext cx="2651040" cy="1370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4"/>
          <p:cNvSpPr/>
          <p:nvPr/>
        </p:nvSpPr>
        <p:spPr>
          <a:xfrm>
            <a:off x="457200" y="1508760"/>
            <a:ext cx="2651040" cy="365040"/>
          </a:xfrm>
          <a:prstGeom prst="rect">
            <a:avLst/>
          </a:prstGeom>
          <a:solidFill>
            <a:srgbClr val="1C1E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5"/>
          <p:cNvSpPr/>
          <p:nvPr/>
        </p:nvSpPr>
        <p:spPr>
          <a:xfrm>
            <a:off x="567000" y="1508760"/>
            <a:ext cx="243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VENDOR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6"/>
          <p:cNvSpPr/>
          <p:nvPr/>
        </p:nvSpPr>
        <p:spPr>
          <a:xfrm>
            <a:off x="567000" y="1947600"/>
            <a:ext cx="2431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PK  vendor_id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7"/>
          <p:cNvSpPr/>
          <p:nvPr/>
        </p:nvSpPr>
        <p:spPr>
          <a:xfrm>
            <a:off x="567000" y="2240280"/>
            <a:ext cx="24314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vendor_name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contact_email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8"/>
          <p:cNvSpPr/>
          <p:nvPr/>
        </p:nvSpPr>
        <p:spPr>
          <a:xfrm>
            <a:off x="3328560" y="1508760"/>
            <a:ext cx="2651040" cy="1370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9"/>
          <p:cNvSpPr/>
          <p:nvPr/>
        </p:nvSpPr>
        <p:spPr>
          <a:xfrm>
            <a:off x="3328560" y="1508760"/>
            <a:ext cx="2651040" cy="365040"/>
          </a:xfrm>
          <a:prstGeom prst="rect">
            <a:avLst/>
          </a:prstGeom>
          <a:solidFill>
            <a:srgbClr val="1C1E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0"/>
          <p:cNvSpPr/>
          <p:nvPr/>
        </p:nvSpPr>
        <p:spPr>
          <a:xfrm>
            <a:off x="3438000" y="1508760"/>
            <a:ext cx="243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SOFTWARE_PRODUCT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1"/>
          <p:cNvSpPr/>
          <p:nvPr/>
        </p:nvSpPr>
        <p:spPr>
          <a:xfrm>
            <a:off x="3438000" y="1947600"/>
            <a:ext cx="2431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PK  product_id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2"/>
          <p:cNvSpPr/>
          <p:nvPr/>
        </p:nvSpPr>
        <p:spPr>
          <a:xfrm>
            <a:off x="3438000" y="2240280"/>
            <a:ext cx="24314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FK  vendor_id → VENDOR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3"/>
          <p:cNvSpPr/>
          <p:nvPr/>
        </p:nvSpPr>
        <p:spPr>
          <a:xfrm>
            <a:off x="6199560" y="1508760"/>
            <a:ext cx="2651040" cy="1370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4"/>
          <p:cNvSpPr/>
          <p:nvPr/>
        </p:nvSpPr>
        <p:spPr>
          <a:xfrm>
            <a:off x="6199560" y="1508760"/>
            <a:ext cx="2651040" cy="365040"/>
          </a:xfrm>
          <a:prstGeom prst="rect">
            <a:avLst/>
          </a:prstGeom>
          <a:solidFill>
            <a:srgbClr val="1C1E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5"/>
          <p:cNvSpPr/>
          <p:nvPr/>
        </p:nvSpPr>
        <p:spPr>
          <a:xfrm>
            <a:off x="6309360" y="1508760"/>
            <a:ext cx="243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LICENSE_TYPE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6"/>
          <p:cNvSpPr/>
          <p:nvPr/>
        </p:nvSpPr>
        <p:spPr>
          <a:xfrm>
            <a:off x="6309360" y="1947600"/>
            <a:ext cx="2431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PK  license_type_id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7"/>
          <p:cNvSpPr/>
          <p:nvPr/>
        </p:nvSpPr>
        <p:spPr>
          <a:xfrm>
            <a:off x="6309360" y="2240280"/>
            <a:ext cx="24314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type_name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8"/>
          <p:cNvSpPr/>
          <p:nvPr/>
        </p:nvSpPr>
        <p:spPr>
          <a:xfrm>
            <a:off x="9070920" y="1508760"/>
            <a:ext cx="2651040" cy="1370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9"/>
          <p:cNvSpPr/>
          <p:nvPr/>
        </p:nvSpPr>
        <p:spPr>
          <a:xfrm>
            <a:off x="9070920" y="1508760"/>
            <a:ext cx="2651040" cy="365040"/>
          </a:xfrm>
          <a:prstGeom prst="rect">
            <a:avLst/>
          </a:prstGeom>
          <a:solidFill>
            <a:srgbClr val="1C1E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0"/>
          <p:cNvSpPr/>
          <p:nvPr/>
        </p:nvSpPr>
        <p:spPr>
          <a:xfrm>
            <a:off x="9180720" y="1508760"/>
            <a:ext cx="243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LICENSE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1"/>
          <p:cNvSpPr/>
          <p:nvPr/>
        </p:nvSpPr>
        <p:spPr>
          <a:xfrm>
            <a:off x="9180720" y="1947600"/>
            <a:ext cx="2431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PK  license_id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2"/>
          <p:cNvSpPr/>
          <p:nvPr/>
        </p:nvSpPr>
        <p:spPr>
          <a:xfrm>
            <a:off x="9180720" y="2240280"/>
            <a:ext cx="24314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FK  product_id → PRODUCT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FK  license_type_id → TYPE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23"/>
          <p:cNvSpPr/>
          <p:nvPr/>
        </p:nvSpPr>
        <p:spPr>
          <a:xfrm>
            <a:off x="457200" y="3063240"/>
            <a:ext cx="2651040" cy="1370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4"/>
          <p:cNvSpPr/>
          <p:nvPr/>
        </p:nvSpPr>
        <p:spPr>
          <a:xfrm>
            <a:off x="457200" y="3063240"/>
            <a:ext cx="2651040" cy="365040"/>
          </a:xfrm>
          <a:prstGeom prst="rect">
            <a:avLst/>
          </a:prstGeom>
          <a:solidFill>
            <a:srgbClr val="1C1E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5"/>
          <p:cNvSpPr/>
          <p:nvPr/>
        </p:nvSpPr>
        <p:spPr>
          <a:xfrm>
            <a:off x="567000" y="3063240"/>
            <a:ext cx="243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SUBSCRIPTION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6"/>
          <p:cNvSpPr/>
          <p:nvPr/>
        </p:nvSpPr>
        <p:spPr>
          <a:xfrm>
            <a:off x="567000" y="3502080"/>
            <a:ext cx="2431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PK  subscription_id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7"/>
          <p:cNvSpPr/>
          <p:nvPr/>
        </p:nvSpPr>
        <p:spPr>
          <a:xfrm>
            <a:off x="567000" y="3794760"/>
            <a:ext cx="24314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FK  license_id → LICENSE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28"/>
          <p:cNvSpPr/>
          <p:nvPr/>
        </p:nvSpPr>
        <p:spPr>
          <a:xfrm>
            <a:off x="3328560" y="3063240"/>
            <a:ext cx="2651040" cy="1370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29"/>
          <p:cNvSpPr/>
          <p:nvPr/>
        </p:nvSpPr>
        <p:spPr>
          <a:xfrm>
            <a:off x="3328560" y="3063240"/>
            <a:ext cx="2651040" cy="365040"/>
          </a:xfrm>
          <a:prstGeom prst="rect">
            <a:avLst/>
          </a:prstGeom>
          <a:solidFill>
            <a:srgbClr val="1C1E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30"/>
          <p:cNvSpPr/>
          <p:nvPr/>
        </p:nvSpPr>
        <p:spPr>
          <a:xfrm>
            <a:off x="3438000" y="3063240"/>
            <a:ext cx="243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DEPARTMENT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31"/>
          <p:cNvSpPr/>
          <p:nvPr/>
        </p:nvSpPr>
        <p:spPr>
          <a:xfrm>
            <a:off x="3438000" y="3502080"/>
            <a:ext cx="2431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PK  department_id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32"/>
          <p:cNvSpPr/>
          <p:nvPr/>
        </p:nvSpPr>
        <p:spPr>
          <a:xfrm>
            <a:off x="3438000" y="3794760"/>
            <a:ext cx="24314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department_name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33"/>
          <p:cNvSpPr/>
          <p:nvPr/>
        </p:nvSpPr>
        <p:spPr>
          <a:xfrm>
            <a:off x="6199560" y="3063240"/>
            <a:ext cx="2651040" cy="1370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34"/>
          <p:cNvSpPr/>
          <p:nvPr/>
        </p:nvSpPr>
        <p:spPr>
          <a:xfrm>
            <a:off x="6199560" y="3063240"/>
            <a:ext cx="2651040" cy="365040"/>
          </a:xfrm>
          <a:prstGeom prst="rect">
            <a:avLst/>
          </a:prstGeom>
          <a:solidFill>
            <a:srgbClr val="1C1E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35"/>
          <p:cNvSpPr/>
          <p:nvPr/>
        </p:nvSpPr>
        <p:spPr>
          <a:xfrm>
            <a:off x="6309360" y="3063240"/>
            <a:ext cx="243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APP_USER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36"/>
          <p:cNvSpPr/>
          <p:nvPr/>
        </p:nvSpPr>
        <p:spPr>
          <a:xfrm>
            <a:off x="6309360" y="3502080"/>
            <a:ext cx="2431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PK  user_id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37"/>
          <p:cNvSpPr/>
          <p:nvPr/>
        </p:nvSpPr>
        <p:spPr>
          <a:xfrm>
            <a:off x="6309360" y="3794760"/>
            <a:ext cx="24314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FK  department_id → DEPT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38"/>
          <p:cNvSpPr/>
          <p:nvPr/>
        </p:nvSpPr>
        <p:spPr>
          <a:xfrm>
            <a:off x="9070920" y="3063240"/>
            <a:ext cx="2651040" cy="1370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39"/>
          <p:cNvSpPr/>
          <p:nvPr/>
        </p:nvSpPr>
        <p:spPr>
          <a:xfrm>
            <a:off x="9070920" y="3063240"/>
            <a:ext cx="2651040" cy="365040"/>
          </a:xfrm>
          <a:prstGeom prst="rect">
            <a:avLst/>
          </a:prstGeom>
          <a:solidFill>
            <a:srgbClr val="1C1E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40"/>
          <p:cNvSpPr/>
          <p:nvPr/>
        </p:nvSpPr>
        <p:spPr>
          <a:xfrm>
            <a:off x="9180720" y="3063240"/>
            <a:ext cx="243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DEVICE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41"/>
          <p:cNvSpPr/>
          <p:nvPr/>
        </p:nvSpPr>
        <p:spPr>
          <a:xfrm>
            <a:off x="9180720" y="3502080"/>
            <a:ext cx="2431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PK  device_id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42"/>
          <p:cNvSpPr/>
          <p:nvPr/>
        </p:nvSpPr>
        <p:spPr>
          <a:xfrm>
            <a:off x="9180720" y="3794760"/>
            <a:ext cx="24314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FK  user_id → APP_USER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43"/>
          <p:cNvSpPr/>
          <p:nvPr/>
        </p:nvSpPr>
        <p:spPr>
          <a:xfrm>
            <a:off x="457200" y="4617720"/>
            <a:ext cx="2651040" cy="1370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44"/>
          <p:cNvSpPr/>
          <p:nvPr/>
        </p:nvSpPr>
        <p:spPr>
          <a:xfrm>
            <a:off x="457200" y="4617720"/>
            <a:ext cx="2651040" cy="365040"/>
          </a:xfrm>
          <a:prstGeom prst="rect">
            <a:avLst/>
          </a:prstGeom>
          <a:solidFill>
            <a:srgbClr val="1C1E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45"/>
          <p:cNvSpPr/>
          <p:nvPr/>
        </p:nvSpPr>
        <p:spPr>
          <a:xfrm>
            <a:off x="567000" y="4617720"/>
            <a:ext cx="243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ALLOCATION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46"/>
          <p:cNvSpPr/>
          <p:nvPr/>
        </p:nvSpPr>
        <p:spPr>
          <a:xfrm>
            <a:off x="567000" y="5056560"/>
            <a:ext cx="2431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PK  allocation_id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47"/>
          <p:cNvSpPr/>
          <p:nvPr/>
        </p:nvSpPr>
        <p:spPr>
          <a:xfrm>
            <a:off x="567000" y="5349240"/>
            <a:ext cx="24314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FK  license_id, user_id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FK  device_id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48"/>
          <p:cNvSpPr/>
          <p:nvPr/>
        </p:nvSpPr>
        <p:spPr>
          <a:xfrm>
            <a:off x="3328560" y="4617720"/>
            <a:ext cx="2651040" cy="1370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49"/>
          <p:cNvSpPr/>
          <p:nvPr/>
        </p:nvSpPr>
        <p:spPr>
          <a:xfrm>
            <a:off x="3328560" y="4617720"/>
            <a:ext cx="2651040" cy="365040"/>
          </a:xfrm>
          <a:prstGeom prst="rect">
            <a:avLst/>
          </a:prstGeom>
          <a:solidFill>
            <a:srgbClr val="1C1E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50"/>
          <p:cNvSpPr/>
          <p:nvPr/>
        </p:nvSpPr>
        <p:spPr>
          <a:xfrm>
            <a:off x="3438000" y="4617720"/>
            <a:ext cx="243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PURCHASE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51"/>
          <p:cNvSpPr/>
          <p:nvPr/>
        </p:nvSpPr>
        <p:spPr>
          <a:xfrm>
            <a:off x="3438000" y="5056560"/>
            <a:ext cx="2431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PK  purchase_id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52"/>
          <p:cNvSpPr/>
          <p:nvPr/>
        </p:nvSpPr>
        <p:spPr>
          <a:xfrm>
            <a:off x="3438000" y="5349240"/>
            <a:ext cx="24314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FK  vendor_id, product_id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53"/>
          <p:cNvSpPr/>
          <p:nvPr/>
        </p:nvSpPr>
        <p:spPr>
          <a:xfrm>
            <a:off x="6199560" y="4617720"/>
            <a:ext cx="2651040" cy="1370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54"/>
          <p:cNvSpPr/>
          <p:nvPr/>
        </p:nvSpPr>
        <p:spPr>
          <a:xfrm>
            <a:off x="6199560" y="4617720"/>
            <a:ext cx="2651040" cy="365040"/>
          </a:xfrm>
          <a:prstGeom prst="rect">
            <a:avLst/>
          </a:prstGeom>
          <a:solidFill>
            <a:srgbClr val="1C1E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55"/>
          <p:cNvSpPr/>
          <p:nvPr/>
        </p:nvSpPr>
        <p:spPr>
          <a:xfrm>
            <a:off x="6309360" y="4617720"/>
            <a:ext cx="243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RENEWAL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56"/>
          <p:cNvSpPr/>
          <p:nvPr/>
        </p:nvSpPr>
        <p:spPr>
          <a:xfrm>
            <a:off x="6309360" y="5056560"/>
            <a:ext cx="2431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PK  renewal_id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57"/>
          <p:cNvSpPr/>
          <p:nvPr/>
        </p:nvSpPr>
        <p:spPr>
          <a:xfrm>
            <a:off x="6309360" y="5349240"/>
            <a:ext cx="24314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FK  purchase_id → PURCHASE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58"/>
          <p:cNvSpPr/>
          <p:nvPr/>
        </p:nvSpPr>
        <p:spPr>
          <a:xfrm>
            <a:off x="9070920" y="4617720"/>
            <a:ext cx="2651040" cy="1370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1E2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59"/>
          <p:cNvSpPr/>
          <p:nvPr/>
        </p:nvSpPr>
        <p:spPr>
          <a:xfrm>
            <a:off x="9070920" y="4617720"/>
            <a:ext cx="2651040" cy="365040"/>
          </a:xfrm>
          <a:prstGeom prst="rect">
            <a:avLst/>
          </a:prstGeom>
          <a:solidFill>
            <a:srgbClr val="1C1E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60"/>
          <p:cNvSpPr/>
          <p:nvPr/>
        </p:nvSpPr>
        <p:spPr>
          <a:xfrm>
            <a:off x="9180720" y="4617720"/>
            <a:ext cx="2431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40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COMPLIANCE_CHECK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61"/>
          <p:cNvSpPr/>
          <p:nvPr/>
        </p:nvSpPr>
        <p:spPr>
          <a:xfrm>
            <a:off x="9180720" y="5056560"/>
            <a:ext cx="2431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A6552C"/>
                </a:solidFill>
                <a:effectLst/>
                <a:uFillTx/>
                <a:latin typeface="Consolas"/>
                <a:ea typeface="Consolas"/>
              </a:rPr>
              <a:t>PK  check_id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62"/>
          <p:cNvSpPr/>
          <p:nvPr/>
        </p:nvSpPr>
        <p:spPr>
          <a:xfrm>
            <a:off x="9180720" y="5349240"/>
            <a:ext cx="243144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B6873"/>
                </a:solidFill>
                <a:effectLst/>
                <a:uFillTx/>
                <a:latin typeface="Consolas"/>
                <a:ea typeface="Consolas"/>
              </a:rPr>
              <a:t>FK  allocation_id → ALLOC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63"/>
          <p:cNvSpPr/>
          <p:nvPr/>
        </p:nvSpPr>
        <p:spPr>
          <a:xfrm>
            <a:off x="457200" y="6217920"/>
            <a:ext cx="11246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 0"/>
          <p:cNvSpPr/>
          <p:nvPr/>
        </p:nvSpPr>
        <p:spPr>
          <a:xfrm>
            <a:off x="548640" y="320040"/>
            <a:ext cx="9600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C1E21"/>
                </a:solidFill>
                <a:effectLst/>
                <a:uFillTx/>
                <a:latin typeface="Cambria"/>
                <a:ea typeface="Cambria"/>
              </a:rPr>
              <a:t>Literature Review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"/>
          <p:cNvSpPr/>
          <p:nvPr/>
        </p:nvSpPr>
        <p:spPr>
          <a:xfrm>
            <a:off x="548640" y="82296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Key guidance and current practice shaping the proposed license &amp; subscription management system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2"/>
          <p:cNvSpPr/>
          <p:nvPr/>
        </p:nvSpPr>
        <p:spPr>
          <a:xfrm>
            <a:off x="566640" y="1188720"/>
            <a:ext cx="502920" cy="360"/>
          </a:xfrm>
          <a:prstGeom prst="line">
            <a:avLst/>
          </a:prstGeom>
          <a:ln w="25400">
            <a:solidFill>
              <a:srgbClr val="A6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3"/>
          <p:cNvSpPr/>
          <p:nvPr/>
        </p:nvSpPr>
        <p:spPr>
          <a:xfrm>
            <a:off x="548640" y="1600200"/>
            <a:ext cx="1096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DCD6CC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5"/>
          <p:cNvSpPr/>
          <p:nvPr/>
        </p:nvSpPr>
        <p:spPr>
          <a:xfrm>
            <a:off x="777240" y="2167200"/>
            <a:ext cx="5028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IT Asset Management (ISO/IEC 19770-1)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6"/>
          <p:cNvSpPr/>
          <p:nvPr/>
        </p:nvSpPr>
        <p:spPr>
          <a:xfrm>
            <a:off x="777240" y="2560320"/>
            <a:ext cx="5028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Frames IT asset management as a lifecycle-oriented management system, emphasizing trustworthy data, lifecycle integration and continuous improvement.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7"/>
          <p:cNvSpPr/>
          <p:nvPr/>
        </p:nvSpPr>
        <p:spPr>
          <a:xfrm>
            <a:off x="6172200" y="1600200"/>
            <a:ext cx="1096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DCD6CC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9"/>
          <p:cNvSpPr/>
          <p:nvPr/>
        </p:nvSpPr>
        <p:spPr>
          <a:xfrm>
            <a:off x="6400800" y="2167200"/>
            <a:ext cx="5028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Centralized License Inventory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0"/>
          <p:cNvSpPr/>
          <p:nvPr/>
        </p:nvSpPr>
        <p:spPr>
          <a:xfrm>
            <a:off x="6400800" y="2560320"/>
            <a:ext cx="5028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Recent public-sector evidence highlights the value of a comprehensive, maintained software-license inventory plus analysis that supports investment and cost-reduction decisions.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1"/>
          <p:cNvSpPr/>
          <p:nvPr/>
        </p:nvSpPr>
        <p:spPr>
          <a:xfrm>
            <a:off x="548640" y="3520440"/>
            <a:ext cx="1096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DCD6CC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3"/>
          <p:cNvSpPr/>
          <p:nvPr/>
        </p:nvSpPr>
        <p:spPr>
          <a:xfrm>
            <a:off x="777240" y="4087440"/>
            <a:ext cx="5028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SAM(Software Asset Management) &amp; Subscription Complexity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4"/>
          <p:cNvSpPr/>
          <p:nvPr/>
        </p:nvSpPr>
        <p:spPr>
          <a:xfrm>
            <a:off x="777240" y="4480560"/>
            <a:ext cx="5028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Current SAM guidance reflects a changing licensing landscape with diverse license models, subscriptions and SaaS; visibility and compliance therefore need to be continuous rather than one-time.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5"/>
          <p:cNvSpPr/>
          <p:nvPr/>
        </p:nvSpPr>
        <p:spPr>
          <a:xfrm>
            <a:off x="6172200" y="3520440"/>
            <a:ext cx="10965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DCD6CC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7"/>
          <p:cNvSpPr/>
          <p:nvPr/>
        </p:nvSpPr>
        <p:spPr>
          <a:xfrm>
            <a:off x="6400800" y="4087440"/>
            <a:ext cx="5028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C1E21"/>
                </a:solidFill>
                <a:effectLst/>
                <a:uFillTx/>
                <a:latin typeface="Calibri"/>
                <a:ea typeface="Calibri"/>
              </a:rPr>
              <a:t>Relational Design &amp; Normalization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8"/>
          <p:cNvSpPr/>
          <p:nvPr/>
        </p:nvSpPr>
        <p:spPr>
          <a:xfrm>
            <a:off x="6400800" y="4480560"/>
            <a:ext cx="5028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5B6873"/>
                </a:solidFill>
                <a:effectLst/>
                <a:uFillTx/>
                <a:latin typeface="Calibri"/>
                <a:ea typeface="Calibri"/>
              </a:rPr>
              <a:t>Database design literature recommends ER modeling alongside normalization to reduce redundancy; this supports the project’s planned 3NF schema and database-level integrity rules.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20"/>
          <p:cNvSpPr/>
          <p:nvPr/>
        </p:nvSpPr>
        <p:spPr>
          <a:xfrm>
            <a:off x="548640" y="5468040"/>
            <a:ext cx="10880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"/>
          <p:cNvGrpSpPr/>
          <p:nvPr/>
        </p:nvGrpSpPr>
        <p:grpSpPr>
          <a:xfrm>
            <a:off x="228600" y="548640"/>
            <a:ext cx="11887200" cy="6995160"/>
            <a:chOff x="228600" y="548640"/>
            <a:chExt cx="11887200" cy="6995160"/>
          </a:xfrm>
        </p:grpSpPr>
        <p:sp>
          <p:nvSpPr>
            <p:cNvPr id="398" name="Text 0"/>
            <p:cNvSpPr/>
            <p:nvPr/>
          </p:nvSpPr>
          <p:spPr>
            <a:xfrm>
              <a:off x="228600" y="548640"/>
              <a:ext cx="10263960" cy="60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3000" b="1" u="none" strike="noStrike">
                  <a:solidFill>
                    <a:srgbClr val="1C1E21"/>
                  </a:solidFill>
                  <a:effectLst/>
                  <a:uFillTx/>
                  <a:latin typeface="Cambria"/>
                  <a:ea typeface="Cambria"/>
                </a:rPr>
                <a:t>Future Project Plan</a:t>
              </a:r>
              <a:endParaRPr lang="en-US" sz="3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Text 1"/>
            <p:cNvSpPr/>
            <p:nvPr/>
          </p:nvSpPr>
          <p:spPr>
            <a:xfrm>
              <a:off x="228600" y="1099800"/>
              <a:ext cx="10752480" cy="350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0" i="1" u="none" strike="noStrike">
                  <a:solidFill>
                    <a:srgbClr val="5B6873"/>
                  </a:solidFill>
                  <a:effectLst/>
                  <a:uFillTx/>
                  <a:latin typeface="Calibri"/>
                  <a:ea typeface="Calibri"/>
                </a:rPr>
                <a:t>Next implementation milestones after Review 1</a:t>
              </a:r>
              <a:endParaRPr lang="en-US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Shape 2"/>
            <p:cNvSpPr/>
            <p:nvPr/>
          </p:nvSpPr>
          <p:spPr>
            <a:xfrm>
              <a:off x="247680" y="1500840"/>
              <a:ext cx="537840" cy="360"/>
            </a:xfrm>
            <a:prstGeom prst="line">
              <a:avLst/>
            </a:prstGeom>
            <a:ln w="25400">
              <a:solidFill>
                <a:srgbClr val="A655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Text 3"/>
            <p:cNvSpPr/>
            <p:nvPr/>
          </p:nvSpPr>
          <p:spPr>
            <a:xfrm>
              <a:off x="228600" y="1951560"/>
              <a:ext cx="976680" cy="50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600" b="1" u="none" strike="noStrike">
                  <a:solidFill>
                    <a:srgbClr val="DCD6CC"/>
                  </a:solidFill>
                  <a:effectLst/>
                  <a:uFillTx/>
                  <a:latin typeface="Cambria"/>
                  <a:ea typeface="Cambria"/>
                </a:rPr>
                <a:t>01</a:t>
              </a:r>
              <a:endPara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Shape 4"/>
            <p:cNvSpPr/>
            <p:nvPr/>
          </p:nvSpPr>
          <p:spPr>
            <a:xfrm>
              <a:off x="228600" y="2503080"/>
              <a:ext cx="2228760" cy="360"/>
            </a:xfrm>
            <a:prstGeom prst="line">
              <a:avLst/>
            </a:prstGeom>
            <a:ln w="25400">
              <a:solidFill>
                <a:srgbClr val="A655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Text 5"/>
            <p:cNvSpPr/>
            <p:nvPr/>
          </p:nvSpPr>
          <p:spPr>
            <a:xfrm>
              <a:off x="228600" y="2633400"/>
              <a:ext cx="2228040" cy="75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pPr defTabSz="914400">
                <a:lnSpc>
                  <a:spcPct val="115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1C1E21"/>
                  </a:solidFill>
                  <a:effectLst/>
                  <a:uFillTx/>
                  <a:latin typeface="Calibri"/>
                  <a:ea typeface="Calibri"/>
                </a:rPr>
                <a:t>Review 2 — Normalize &amp; Implement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Text 6"/>
            <p:cNvSpPr/>
            <p:nvPr/>
          </p:nvSpPr>
          <p:spPr>
            <a:xfrm>
              <a:off x="228600" y="3455280"/>
              <a:ext cx="2228040" cy="240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pPr defTabSz="914400">
                <a:lnSpc>
                  <a:spcPct val="12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5B6873"/>
                  </a:solidFill>
                  <a:effectLst/>
                  <a:uFillTx/>
                  <a:latin typeface="Calibri"/>
                  <a:ea typeface="Calibri"/>
                </a:rPr>
                <a:t>Convert the conceptual model to 3NF; finalize PK/FK structure; add CHECK constraints and referential rules.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Text 7"/>
            <p:cNvSpPr/>
            <p:nvPr/>
          </p:nvSpPr>
          <p:spPr>
            <a:xfrm>
              <a:off x="2643480" y="1951560"/>
              <a:ext cx="976680" cy="50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600" b="1" u="none" strike="noStrike">
                  <a:solidFill>
                    <a:srgbClr val="DCD6CC"/>
                  </a:solidFill>
                  <a:effectLst/>
                  <a:uFillTx/>
                  <a:latin typeface="Cambria"/>
                  <a:ea typeface="Cambria"/>
                </a:rPr>
                <a:t>02</a:t>
              </a:r>
              <a:endPara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Shape 8"/>
            <p:cNvSpPr/>
            <p:nvPr/>
          </p:nvSpPr>
          <p:spPr>
            <a:xfrm>
              <a:off x="2642760" y="2503080"/>
              <a:ext cx="2229480" cy="360"/>
            </a:xfrm>
            <a:prstGeom prst="line">
              <a:avLst/>
            </a:prstGeom>
            <a:ln w="25400">
              <a:solidFill>
                <a:srgbClr val="A655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7" name="Text 9"/>
            <p:cNvSpPr/>
            <p:nvPr/>
          </p:nvSpPr>
          <p:spPr>
            <a:xfrm>
              <a:off x="2643480" y="2633400"/>
              <a:ext cx="2227680" cy="75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pPr defTabSz="914400">
                <a:lnSpc>
                  <a:spcPct val="115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1C1E21"/>
                  </a:solidFill>
                  <a:effectLst/>
                  <a:uFillTx/>
                  <a:latin typeface="Calibri"/>
                  <a:ea typeface="Calibri"/>
                </a:rPr>
                <a:t>Core Database &amp; APIs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Text 10"/>
            <p:cNvSpPr/>
            <p:nvPr/>
          </p:nvSpPr>
          <p:spPr>
            <a:xfrm>
              <a:off x="2643480" y="3455280"/>
              <a:ext cx="2227680" cy="240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pPr defTabSz="914400">
                <a:lnSpc>
                  <a:spcPct val="12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5B6873"/>
                  </a:solidFill>
                  <a:effectLst/>
                  <a:uFillTx/>
                  <a:latin typeface="Calibri"/>
                  <a:ea typeface="Calibri"/>
                </a:rPr>
                <a:t>Build tables, CRUD operations and transactions; connect the application layer to the relational database.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Text 11"/>
            <p:cNvSpPr/>
            <p:nvPr/>
          </p:nvSpPr>
          <p:spPr>
            <a:xfrm>
              <a:off x="5058000" y="1951560"/>
              <a:ext cx="976680" cy="50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600" b="1" u="none" strike="noStrike">
                  <a:solidFill>
                    <a:srgbClr val="DCD6CC"/>
                  </a:solidFill>
                  <a:effectLst/>
                  <a:uFillTx/>
                  <a:latin typeface="Cambria"/>
                  <a:ea typeface="Cambria"/>
                </a:rPr>
                <a:t>03</a:t>
              </a:r>
              <a:endPara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Shape 12"/>
            <p:cNvSpPr/>
            <p:nvPr/>
          </p:nvSpPr>
          <p:spPr>
            <a:xfrm>
              <a:off x="5057640" y="2503080"/>
              <a:ext cx="2228760" cy="360"/>
            </a:xfrm>
            <a:prstGeom prst="line">
              <a:avLst/>
            </a:prstGeom>
            <a:ln w="25400">
              <a:solidFill>
                <a:srgbClr val="A655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Text 13"/>
            <p:cNvSpPr/>
            <p:nvPr/>
          </p:nvSpPr>
          <p:spPr>
            <a:xfrm>
              <a:off x="5058000" y="2633400"/>
              <a:ext cx="2228040" cy="75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pPr defTabSz="914400">
                <a:lnSpc>
                  <a:spcPct val="115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1C1E21"/>
                  </a:solidFill>
                  <a:effectLst/>
                  <a:uFillTx/>
                  <a:latin typeface="Calibri"/>
                  <a:ea typeface="Calibri"/>
                </a:rPr>
                <a:t>Monitoring &amp; Compliance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Text 14"/>
            <p:cNvSpPr/>
            <p:nvPr/>
          </p:nvSpPr>
          <p:spPr>
            <a:xfrm>
              <a:off x="5058000" y="3455280"/>
              <a:ext cx="2228040" cy="240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pPr defTabSz="914400">
                <a:lnSpc>
                  <a:spcPct val="12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5B6873"/>
                  </a:solidFill>
                  <a:effectLst/>
                  <a:uFillTx/>
                  <a:latin typeface="Calibri"/>
                  <a:ea typeface="Calibri"/>
                </a:rPr>
                <a:t>Implement expiry tracking, allocation validation, compliance checks, reclaim workflows and audit history.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Text 15"/>
            <p:cNvSpPr/>
            <p:nvPr/>
          </p:nvSpPr>
          <p:spPr>
            <a:xfrm>
              <a:off x="7472520" y="1951560"/>
              <a:ext cx="976680" cy="50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600" b="1" u="none" strike="noStrike">
                  <a:solidFill>
                    <a:srgbClr val="DCD6CC"/>
                  </a:solidFill>
                  <a:effectLst/>
                  <a:uFillTx/>
                  <a:latin typeface="Cambria"/>
                  <a:ea typeface="Cambria"/>
                </a:rPr>
                <a:t>04</a:t>
              </a:r>
              <a:endPara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Shape 16"/>
            <p:cNvSpPr/>
            <p:nvPr/>
          </p:nvSpPr>
          <p:spPr>
            <a:xfrm>
              <a:off x="7472160" y="2503080"/>
              <a:ext cx="2229120" cy="360"/>
            </a:xfrm>
            <a:prstGeom prst="line">
              <a:avLst/>
            </a:prstGeom>
            <a:ln w="25400">
              <a:solidFill>
                <a:srgbClr val="A655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Text 17"/>
            <p:cNvSpPr/>
            <p:nvPr/>
          </p:nvSpPr>
          <p:spPr>
            <a:xfrm>
              <a:off x="7472520" y="2633400"/>
              <a:ext cx="2227680" cy="75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pPr defTabSz="914400">
                <a:lnSpc>
                  <a:spcPct val="115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1C1E21"/>
                  </a:solidFill>
                  <a:effectLst/>
                  <a:uFillTx/>
                  <a:latin typeface="Calibri"/>
                  <a:ea typeface="Calibri"/>
                </a:rPr>
                <a:t>Reports &amp; Decision Support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Text 18"/>
            <p:cNvSpPr/>
            <p:nvPr/>
          </p:nvSpPr>
          <p:spPr>
            <a:xfrm>
              <a:off x="7472520" y="3455280"/>
              <a:ext cx="2227680" cy="240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pPr defTabSz="914400">
                <a:lnSpc>
                  <a:spcPct val="12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5B6873"/>
                  </a:solidFill>
                  <a:effectLst/>
                  <a:uFillTx/>
                  <a:latin typeface="Calibri"/>
                  <a:ea typeface="Calibri"/>
                </a:rPr>
                <a:t>Add utilization, department allocation, vendor cost and renewal reports; surface upcoming renewals.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Text 19"/>
            <p:cNvSpPr/>
            <p:nvPr/>
          </p:nvSpPr>
          <p:spPr>
            <a:xfrm>
              <a:off x="9887040" y="1951560"/>
              <a:ext cx="976680" cy="50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2600" b="1" u="none" strike="noStrike">
                  <a:solidFill>
                    <a:srgbClr val="DCD6CC"/>
                  </a:solidFill>
                  <a:effectLst/>
                  <a:uFillTx/>
                  <a:latin typeface="Cambria"/>
                  <a:ea typeface="Cambria"/>
                </a:rPr>
                <a:t>05</a:t>
              </a:r>
              <a:endParaRPr lang="en-US" sz="2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8" name="Shape 20"/>
            <p:cNvSpPr/>
            <p:nvPr/>
          </p:nvSpPr>
          <p:spPr>
            <a:xfrm>
              <a:off x="9887040" y="2503080"/>
              <a:ext cx="2228760" cy="360"/>
            </a:xfrm>
            <a:prstGeom prst="line">
              <a:avLst/>
            </a:prstGeom>
            <a:ln w="25400">
              <a:solidFill>
                <a:srgbClr val="A6552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4640" rIns="90000" bIns="-4464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9" name="Text 21"/>
            <p:cNvSpPr/>
            <p:nvPr/>
          </p:nvSpPr>
          <p:spPr>
            <a:xfrm>
              <a:off x="9887040" y="2633400"/>
              <a:ext cx="2228040" cy="750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pPr defTabSz="914400">
                <a:lnSpc>
                  <a:spcPct val="115000"/>
                </a:lnSpc>
                <a:tabLst>
                  <a:tab pos="0" algn="l"/>
                </a:tabLst>
              </a:pPr>
              <a:r>
                <a:rPr lang="en-US" sz="1250" b="1" u="none" strike="noStrike">
                  <a:solidFill>
                    <a:srgbClr val="1C1E21"/>
                  </a:solidFill>
                  <a:effectLst/>
                  <a:uFillTx/>
                  <a:latin typeface="Calibri"/>
                  <a:ea typeface="Calibri"/>
                </a:rPr>
                <a:t>Testing, Security &amp; Deployment</a:t>
              </a:r>
              <a:endParaRPr lang="en-US" sz="12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0" name="Text 22"/>
            <p:cNvSpPr/>
            <p:nvPr/>
          </p:nvSpPr>
          <p:spPr>
            <a:xfrm>
              <a:off x="9887040" y="3455280"/>
              <a:ext cx="2228040" cy="240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pPr defTabSz="914400">
                <a:lnSpc>
                  <a:spcPct val="12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5B6873"/>
                  </a:solidFill>
                  <a:effectLst/>
                  <a:uFillTx/>
                  <a:latin typeface="Calibri"/>
                  <a:ea typeface="Calibri"/>
                </a:rPr>
                <a:t>Test business rules and edge cases; apply role-based access; validate backups, performance and deployment documentation.</a:t>
              </a:r>
              <a:endPara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Text 24"/>
            <p:cNvSpPr/>
            <p:nvPr/>
          </p:nvSpPr>
          <p:spPr>
            <a:xfrm>
              <a:off x="228600" y="6942960"/>
              <a:ext cx="11632320" cy="600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2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LibreOffice/26.8.0.3$MacOSX_AARCH64 LibreOffice_project/bce0998afefdbc355585ca324285661a2170ba77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2026-09-08T04:41:13Z</dcterms:created>
  <dc:creator>PptxGenJS</dc:creator>
  <dc:description/>
  <dc:language>en-US</dc:language>
  <cp:lastModifiedBy/>
  <dcterms:modified xsi:type="dcterms:W3CDTF">2026-09-09T11:37:08Z</dcterms:modified>
  <cp:revision>9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